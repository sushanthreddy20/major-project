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Lst>
  <p:sldSz cx="32918400" cy="43891200"/>
  <p:notesSz cx="7004050" cy="9290050"/>
  <p:defaultText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824" userDrawn="1">
          <p15:clr>
            <a:srgbClr val="A4A3A4"/>
          </p15:clr>
        </p15:guide>
        <p15:guide id="2" pos="103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73" autoAdjust="0"/>
    <p:restoredTop sz="94629" autoAdjust="0"/>
  </p:normalViewPr>
  <p:slideViewPr>
    <p:cSldViewPr showGuides="1">
      <p:cViewPr>
        <p:scale>
          <a:sx n="22" d="100"/>
          <a:sy n="22" d="100"/>
        </p:scale>
        <p:origin x="1997" y="34"/>
      </p:cViewPr>
      <p:guideLst>
        <p:guide orient="horz" pos="13824"/>
        <p:guide pos="10368"/>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6" Type="http://schemas.openxmlformats.org/officeDocument/2006/relationships/tableStyles" Target="tableStyles.xml"/><Relationship Id="rId5" Type="http://schemas.openxmlformats.org/officeDocument/2006/relationships/viewProps" Target="viewProps.xml"/><Relationship Id="rId4" Type="http://schemas.openxmlformats.org/officeDocument/2006/relationships/presProps" Target="presProps.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1" name="Rectangle 10"/>
          <p:cNvSpPr/>
          <p:nvPr userDrawn="1"/>
        </p:nvSpPr>
        <p:spPr>
          <a:xfrm>
            <a:off x="32004000" y="0"/>
            <a:ext cx="914400" cy="438912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userDrawn="1"/>
        </p:nvSpPr>
        <p:spPr>
          <a:xfrm>
            <a:off x="0" y="0"/>
            <a:ext cx="914400" cy="438912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userDrawn="1"/>
        </p:nvSpPr>
        <p:spPr>
          <a:xfrm>
            <a:off x="0" y="0"/>
            <a:ext cx="32918400" cy="54864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userDrawn="1"/>
        </p:nvSpPr>
        <p:spPr>
          <a:xfrm>
            <a:off x="0" y="38404800"/>
            <a:ext cx="32918400" cy="54864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Instructions"/>
          <p:cNvSpPr/>
          <p:nvPr userDrawn="1"/>
        </p:nvSpPr>
        <p:spPr>
          <a:xfrm>
            <a:off x="-13716000" y="0"/>
            <a:ext cx="12801600" cy="438912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28600" tIns="228600" rIns="228600" bIns="228600" rtlCol="0" anchor="t"/>
          <a:lstStyle>
            <a:defPPr>
              <a:defRPr lang="en-US"/>
            </a:defPPr>
            <a:lvl1pPr marL="0" algn="l" defTabSz="3686810" rtl="0" eaLnBrk="1" latinLnBrk="0" hangingPunct="1">
              <a:defRPr sz="7260" kern="1200">
                <a:solidFill>
                  <a:schemeClr val="lt1"/>
                </a:solidFill>
                <a:latin typeface="+mn-lt"/>
                <a:ea typeface="+mn-ea"/>
                <a:cs typeface="+mn-cs"/>
              </a:defRPr>
            </a:lvl1pPr>
            <a:lvl2pPr marL="1843405" algn="l" defTabSz="3686810" rtl="0" eaLnBrk="1" latinLnBrk="0" hangingPunct="1">
              <a:defRPr sz="7260" kern="1200">
                <a:solidFill>
                  <a:schemeClr val="lt1"/>
                </a:solidFill>
                <a:latin typeface="+mn-lt"/>
                <a:ea typeface="+mn-ea"/>
                <a:cs typeface="+mn-cs"/>
              </a:defRPr>
            </a:lvl2pPr>
            <a:lvl3pPr marL="3686810" algn="l" defTabSz="3686810" rtl="0" eaLnBrk="1" latinLnBrk="0" hangingPunct="1">
              <a:defRPr sz="7260" kern="1200">
                <a:solidFill>
                  <a:schemeClr val="lt1"/>
                </a:solidFill>
                <a:latin typeface="+mn-lt"/>
                <a:ea typeface="+mn-ea"/>
                <a:cs typeface="+mn-cs"/>
              </a:defRPr>
            </a:lvl3pPr>
            <a:lvl4pPr marL="5530215" algn="l" defTabSz="3686810" rtl="0" eaLnBrk="1" latinLnBrk="0" hangingPunct="1">
              <a:defRPr sz="7260" kern="1200">
                <a:solidFill>
                  <a:schemeClr val="lt1"/>
                </a:solidFill>
                <a:latin typeface="+mn-lt"/>
                <a:ea typeface="+mn-ea"/>
                <a:cs typeface="+mn-cs"/>
              </a:defRPr>
            </a:lvl4pPr>
            <a:lvl5pPr marL="7373620" algn="l" defTabSz="3686810" rtl="0" eaLnBrk="1" latinLnBrk="0" hangingPunct="1">
              <a:defRPr sz="7260" kern="1200">
                <a:solidFill>
                  <a:schemeClr val="lt1"/>
                </a:solidFill>
                <a:latin typeface="+mn-lt"/>
                <a:ea typeface="+mn-ea"/>
                <a:cs typeface="+mn-cs"/>
              </a:defRPr>
            </a:lvl5pPr>
            <a:lvl6pPr marL="9217025" algn="l" defTabSz="3686810" rtl="0" eaLnBrk="1" latinLnBrk="0" hangingPunct="1">
              <a:defRPr sz="7260" kern="1200">
                <a:solidFill>
                  <a:schemeClr val="lt1"/>
                </a:solidFill>
                <a:latin typeface="+mn-lt"/>
                <a:ea typeface="+mn-ea"/>
                <a:cs typeface="+mn-cs"/>
              </a:defRPr>
            </a:lvl6pPr>
            <a:lvl7pPr marL="11060430" algn="l" defTabSz="3686810" rtl="0" eaLnBrk="1" latinLnBrk="0" hangingPunct="1">
              <a:defRPr sz="7260" kern="1200">
                <a:solidFill>
                  <a:schemeClr val="lt1"/>
                </a:solidFill>
                <a:latin typeface="+mn-lt"/>
                <a:ea typeface="+mn-ea"/>
                <a:cs typeface="+mn-cs"/>
              </a:defRPr>
            </a:lvl7pPr>
            <a:lvl8pPr marL="12903835" algn="l" defTabSz="3686810" rtl="0" eaLnBrk="1" latinLnBrk="0" hangingPunct="1">
              <a:defRPr sz="7260" kern="1200">
                <a:solidFill>
                  <a:schemeClr val="lt1"/>
                </a:solidFill>
                <a:latin typeface="+mn-lt"/>
                <a:ea typeface="+mn-ea"/>
                <a:cs typeface="+mn-cs"/>
              </a:defRPr>
            </a:lvl8pPr>
            <a:lvl9pPr marL="14747240" algn="l" defTabSz="3686810" rtl="0" eaLnBrk="1" latinLnBrk="0" hangingPunct="1">
              <a:defRPr sz="7260" kern="1200">
                <a:solidFill>
                  <a:schemeClr val="lt1"/>
                </a:solidFill>
                <a:latin typeface="+mn-lt"/>
                <a:ea typeface="+mn-ea"/>
                <a:cs typeface="+mn-cs"/>
              </a:defRPr>
            </a:lvl9pPr>
          </a:lstStyle>
          <a:p>
            <a:pPr lvl="0">
              <a:spcBef>
                <a:spcPts val="0"/>
              </a:spcBef>
              <a:spcAft>
                <a:spcPts val="2400"/>
              </a:spcAft>
            </a:pPr>
            <a:r>
              <a:rPr lang="en-US" sz="9600" dirty="0">
                <a:solidFill>
                  <a:srgbClr val="7F7F7F"/>
                </a:solidFill>
                <a:latin typeface="Calibri" panose="020F0502020204030204" pitchFamily="34" charset="0"/>
                <a:cs typeface="Calibri" panose="020F0502020204030204" pitchFamily="34" charset="0"/>
              </a:rPr>
              <a:t>Poster Print Size:</a:t>
            </a:r>
            <a:endParaRPr sz="9600" dirty="0">
              <a:solidFill>
                <a:srgbClr val="7F7F7F"/>
              </a:solidFill>
              <a:latin typeface="Calibri" panose="020F0502020204030204" pitchFamily="34" charset="0"/>
              <a:cs typeface="Calibri" panose="020F0502020204030204" pitchFamily="34" charset="0"/>
            </a:endParaRPr>
          </a:p>
          <a:p>
            <a:pPr lvl="0">
              <a:spcBef>
                <a:spcPts val="0"/>
              </a:spcBef>
              <a:spcAft>
                <a:spcPts val="2400"/>
              </a:spcAft>
            </a:pPr>
            <a:r>
              <a:rPr lang="en-US" sz="6600" dirty="0">
                <a:solidFill>
                  <a:srgbClr val="7F7F7F"/>
                </a:solidFill>
                <a:latin typeface="Calibri" panose="020F0502020204030204" pitchFamily="34" charset="0"/>
                <a:cs typeface="Calibri" panose="020F0502020204030204" pitchFamily="34" charset="0"/>
              </a:rPr>
              <a:t>This poster template is 48” high by 36” wide. It can be used to print any poster with a 4:3 aspect ratio.</a:t>
            </a:r>
            <a:endParaRPr lang="en-US" sz="6600" dirty="0">
              <a:solidFill>
                <a:srgbClr val="7F7F7F"/>
              </a:solidFill>
              <a:latin typeface="Calibri" panose="020F0502020204030204" pitchFamily="34" charset="0"/>
              <a:cs typeface="Calibri" panose="020F0502020204030204" pitchFamily="34" charset="0"/>
            </a:endParaRPr>
          </a:p>
          <a:p>
            <a:pPr lvl="0">
              <a:spcBef>
                <a:spcPts val="0"/>
              </a:spcBef>
              <a:spcAft>
                <a:spcPts val="2400"/>
              </a:spcAft>
            </a:pPr>
            <a:r>
              <a:rPr lang="en-US" sz="9600" dirty="0">
                <a:solidFill>
                  <a:srgbClr val="7F7F7F"/>
                </a:solidFill>
                <a:latin typeface="Calibri" panose="020F0502020204030204" pitchFamily="34" charset="0"/>
                <a:cs typeface="Calibri" panose="020F0502020204030204" pitchFamily="34" charset="0"/>
              </a:rPr>
              <a:t>Placeholders</a:t>
            </a:r>
            <a:r>
              <a:rPr sz="9600" dirty="0">
                <a:solidFill>
                  <a:srgbClr val="7F7F7F"/>
                </a:solidFill>
                <a:latin typeface="Calibri" panose="020F0502020204030204" pitchFamily="34" charset="0"/>
                <a:cs typeface="Calibri" panose="020F0502020204030204" pitchFamily="34" charset="0"/>
              </a:rPr>
              <a:t>:</a:t>
            </a:r>
            <a:endParaRPr sz="9600" dirty="0">
              <a:solidFill>
                <a:srgbClr val="7F7F7F"/>
              </a:solidFill>
              <a:latin typeface="Calibri" panose="020F0502020204030204" pitchFamily="34" charset="0"/>
              <a:cs typeface="Calibri" panose="020F0502020204030204" pitchFamily="34" charset="0"/>
            </a:endParaRPr>
          </a:p>
          <a:p>
            <a:pPr lvl="0">
              <a:spcBef>
                <a:spcPts val="0"/>
              </a:spcBef>
              <a:spcAft>
                <a:spcPts val="2400"/>
              </a:spcAft>
            </a:pPr>
            <a:r>
              <a:rPr sz="6600" dirty="0">
                <a:solidFill>
                  <a:srgbClr val="7F7F7F"/>
                </a:solidFill>
                <a:latin typeface="Calibri" panose="020F0502020204030204" pitchFamily="34" charset="0"/>
                <a:cs typeface="Calibri" panose="020F0502020204030204" pitchFamily="34" charset="0"/>
              </a:rPr>
              <a:t>The </a:t>
            </a:r>
            <a:r>
              <a:rPr lang="en-US" sz="6600" dirty="0">
                <a:solidFill>
                  <a:srgbClr val="7F7F7F"/>
                </a:solidFill>
                <a:latin typeface="Calibri" panose="020F0502020204030204" pitchFamily="34" charset="0"/>
                <a:cs typeface="Calibri" panose="020F0502020204030204" pitchFamily="34" charset="0"/>
              </a:rPr>
              <a:t>various elements included</a:t>
            </a:r>
            <a:r>
              <a:rPr sz="6600" dirty="0">
                <a:solidFill>
                  <a:srgbClr val="7F7F7F"/>
                </a:solidFill>
                <a:latin typeface="Calibri" panose="020F0502020204030204" pitchFamily="34" charset="0"/>
                <a:cs typeface="Calibri" panose="020F0502020204030204" pitchFamily="34" charset="0"/>
              </a:rPr>
              <a:t> in this </a:t>
            </a:r>
            <a:r>
              <a:rPr lang="en-US" sz="6600" dirty="0">
                <a:solidFill>
                  <a:srgbClr val="7F7F7F"/>
                </a:solidFill>
                <a:latin typeface="Calibri" panose="020F0502020204030204" pitchFamily="34" charset="0"/>
                <a:cs typeface="Calibri" panose="020F0502020204030204" pitchFamily="34" charset="0"/>
              </a:rPr>
              <a:t>poster are ones</a:t>
            </a:r>
            <a:r>
              <a:rPr lang="en-US" sz="6600" baseline="0" dirty="0">
                <a:solidFill>
                  <a:srgbClr val="7F7F7F"/>
                </a:solidFill>
                <a:latin typeface="Calibri" panose="020F0502020204030204" pitchFamily="34" charset="0"/>
                <a:cs typeface="Calibri" panose="020F0502020204030204" pitchFamily="34" charset="0"/>
              </a:rPr>
              <a:t> we often see in medical, research, and scientific posters.</a:t>
            </a:r>
            <a:r>
              <a:rPr sz="6600" dirty="0">
                <a:solidFill>
                  <a:srgbClr val="7F7F7F"/>
                </a:solidFill>
                <a:latin typeface="Calibri" panose="020F0502020204030204" pitchFamily="34" charset="0"/>
                <a:cs typeface="Calibri" panose="020F0502020204030204" pitchFamily="34" charset="0"/>
              </a:rPr>
              <a:t> </a:t>
            </a:r>
            <a:r>
              <a:rPr lang="en-US" sz="6600" dirty="0">
                <a:solidFill>
                  <a:srgbClr val="7F7F7F"/>
                </a:solidFill>
                <a:latin typeface="Calibri" panose="020F0502020204030204" pitchFamily="34" charset="0"/>
                <a:cs typeface="Calibri" panose="020F0502020204030204" pitchFamily="34" charset="0"/>
              </a:rPr>
              <a:t>Feel</a:t>
            </a:r>
            <a:r>
              <a:rPr lang="en-US" sz="6600" baseline="0" dirty="0">
                <a:solidFill>
                  <a:srgbClr val="7F7F7F"/>
                </a:solidFill>
                <a:latin typeface="Calibri" panose="020F0502020204030204" pitchFamily="34" charset="0"/>
                <a:cs typeface="Calibri" panose="020F0502020204030204" pitchFamily="34" charset="0"/>
              </a:rPr>
              <a:t> free to edit, move,  add, and delete items, or change the layout to suit your needs. Always check with your conference organizer for specific requirements.</a:t>
            </a:r>
            <a:endParaRPr lang="en-US" sz="6600" baseline="0" dirty="0">
              <a:solidFill>
                <a:srgbClr val="7F7F7F"/>
              </a:solidFill>
              <a:latin typeface="Calibri" panose="020F0502020204030204" pitchFamily="34" charset="0"/>
              <a:cs typeface="Calibri" panose="020F0502020204030204" pitchFamily="34" charset="0"/>
            </a:endParaRPr>
          </a:p>
          <a:p>
            <a:pPr lvl="0">
              <a:spcBef>
                <a:spcPts val="0"/>
              </a:spcBef>
              <a:spcAft>
                <a:spcPts val="2400"/>
              </a:spcAft>
            </a:pPr>
            <a:r>
              <a:rPr lang="en-US" sz="9600" dirty="0">
                <a:solidFill>
                  <a:srgbClr val="7F7F7F"/>
                </a:solidFill>
                <a:latin typeface="Calibri" panose="020F0502020204030204" pitchFamily="34" charset="0"/>
                <a:cs typeface="Calibri" panose="020F0502020204030204" pitchFamily="34" charset="0"/>
              </a:rPr>
              <a:t>Image</a:t>
            </a:r>
            <a:r>
              <a:rPr lang="en-US" sz="9600" baseline="0" dirty="0">
                <a:solidFill>
                  <a:srgbClr val="7F7F7F"/>
                </a:solidFill>
                <a:latin typeface="Calibri" panose="020F0502020204030204" pitchFamily="34" charset="0"/>
                <a:cs typeface="Calibri" panose="020F0502020204030204" pitchFamily="34" charset="0"/>
              </a:rPr>
              <a:t> Quality</a:t>
            </a:r>
            <a:r>
              <a:rPr lang="en-US" sz="9600" dirty="0">
                <a:solidFill>
                  <a:srgbClr val="7F7F7F"/>
                </a:solidFill>
                <a:latin typeface="Calibri" panose="020F0502020204030204" pitchFamily="34" charset="0"/>
                <a:cs typeface="Calibri" panose="020F0502020204030204" pitchFamily="34" charset="0"/>
              </a:rPr>
              <a:t>:</a:t>
            </a:r>
            <a:endParaRPr lang="en-US" sz="9600" dirty="0">
              <a:solidFill>
                <a:srgbClr val="7F7F7F"/>
              </a:solidFill>
              <a:latin typeface="Calibri" panose="020F0502020204030204" pitchFamily="34" charset="0"/>
              <a:cs typeface="Calibri" panose="020F0502020204030204" pitchFamily="34" charset="0"/>
            </a:endParaRPr>
          </a:p>
          <a:p>
            <a:pPr lvl="0">
              <a:spcBef>
                <a:spcPts val="0"/>
              </a:spcBef>
              <a:spcAft>
                <a:spcPts val="2400"/>
              </a:spcAft>
            </a:pPr>
            <a:r>
              <a:rPr lang="en-US" sz="6600" dirty="0">
                <a:solidFill>
                  <a:srgbClr val="7F7F7F"/>
                </a:solidFill>
                <a:latin typeface="Calibri" panose="020F0502020204030204" pitchFamily="34" charset="0"/>
                <a:cs typeface="Calibri" panose="020F0502020204030204" pitchFamily="34" charset="0"/>
              </a:rPr>
              <a:t>You can place digital photos or logo art in your poster file by selecting the </a:t>
            </a:r>
            <a:r>
              <a:rPr lang="en-US" sz="6600" b="1" dirty="0">
                <a:solidFill>
                  <a:srgbClr val="7F7F7F"/>
                </a:solidFill>
                <a:latin typeface="Calibri" panose="020F0502020204030204" pitchFamily="34" charset="0"/>
                <a:cs typeface="Calibri" panose="020F0502020204030204" pitchFamily="34" charset="0"/>
              </a:rPr>
              <a:t>Insert, Picture</a:t>
            </a:r>
            <a:r>
              <a:rPr lang="en-US" sz="6600" dirty="0">
                <a:solidFill>
                  <a:srgbClr val="7F7F7F"/>
                </a:solidFill>
                <a:latin typeface="Calibri" panose="020F0502020204030204" pitchFamily="34" charset="0"/>
                <a:cs typeface="Calibri" panose="020F0502020204030204" pitchFamily="34" charset="0"/>
              </a:rPr>
              <a:t> command, or by using standard copy &amp; paste. For best results, all graphic elements should be at least </a:t>
            </a:r>
            <a:r>
              <a:rPr lang="en-US" sz="6600" b="1" dirty="0">
                <a:solidFill>
                  <a:srgbClr val="7F7F7F"/>
                </a:solidFill>
                <a:latin typeface="Calibri" panose="020F0502020204030204" pitchFamily="34" charset="0"/>
                <a:cs typeface="Calibri" panose="020F0502020204030204" pitchFamily="34" charset="0"/>
              </a:rPr>
              <a:t>150-200 pixels per inch in their final printed size</a:t>
            </a:r>
            <a:r>
              <a:rPr lang="en-US" sz="6600" dirty="0">
                <a:solidFill>
                  <a:srgbClr val="7F7F7F"/>
                </a:solidFill>
                <a:latin typeface="Calibri" panose="020F0502020204030204" pitchFamily="34" charset="0"/>
                <a:cs typeface="Calibri" panose="020F0502020204030204" pitchFamily="34" charset="0"/>
              </a:rPr>
              <a:t>. For instance, a 1600 x 1200 pixel</a:t>
            </a:r>
            <a:r>
              <a:rPr lang="en-US" sz="6600" baseline="0" dirty="0">
                <a:solidFill>
                  <a:srgbClr val="7F7F7F"/>
                </a:solidFill>
                <a:latin typeface="Calibri" panose="020F0502020204030204" pitchFamily="34" charset="0"/>
                <a:cs typeface="Calibri" panose="020F0502020204030204" pitchFamily="34" charset="0"/>
              </a:rPr>
              <a:t> photo will usually look fine up to </a:t>
            </a:r>
            <a:r>
              <a:rPr lang="en-US" sz="6600" dirty="0">
                <a:solidFill>
                  <a:srgbClr val="7F7F7F"/>
                </a:solidFill>
                <a:latin typeface="Calibri" panose="020F0502020204030204" pitchFamily="34" charset="0"/>
                <a:cs typeface="Calibri" panose="020F0502020204030204" pitchFamily="34" charset="0"/>
              </a:rPr>
              <a:t>8“-10” wide on your printed poster.</a:t>
            </a:r>
            <a:endParaRPr lang="en-US" sz="6600" dirty="0">
              <a:solidFill>
                <a:srgbClr val="7F7F7F"/>
              </a:solidFill>
              <a:latin typeface="Calibri" panose="020F0502020204030204" pitchFamily="34" charset="0"/>
              <a:cs typeface="Calibri" panose="020F0502020204030204" pitchFamily="34" charset="0"/>
            </a:endParaRPr>
          </a:p>
          <a:p>
            <a:pPr lvl="0">
              <a:spcBef>
                <a:spcPts val="0"/>
              </a:spcBef>
              <a:spcAft>
                <a:spcPts val="2400"/>
              </a:spcAft>
            </a:pPr>
            <a:r>
              <a:rPr lang="en-US" sz="6600" dirty="0">
                <a:solidFill>
                  <a:srgbClr val="7F7F7F"/>
                </a:solidFill>
                <a:latin typeface="Calibri" panose="020F0502020204030204" pitchFamily="34" charset="0"/>
                <a:cs typeface="Calibri" panose="020F0502020204030204" pitchFamily="34" charset="0"/>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endParaRPr lang="en-US" sz="6600" dirty="0">
              <a:solidFill>
                <a:srgbClr val="7F7F7F"/>
              </a:solidFill>
              <a:latin typeface="Calibri" panose="020F0502020204030204" pitchFamily="34" charset="0"/>
              <a:cs typeface="Calibri" panose="020F0502020204030204" pitchFamily="34" charset="0"/>
            </a:endParaRPr>
          </a:p>
          <a:p>
            <a:pPr lvl="0">
              <a:spcBef>
                <a:spcPts val="0"/>
              </a:spcBef>
              <a:spcAft>
                <a:spcPts val="2400"/>
              </a:spcAft>
            </a:pPr>
            <a:r>
              <a:rPr lang="en-US" sz="6600" dirty="0">
                <a:solidFill>
                  <a:srgbClr val="7F7F7F"/>
                </a:solidFill>
                <a:latin typeface="Calibri" panose="020F0502020204030204" pitchFamily="34" charset="0"/>
                <a:cs typeface="Calibri" panose="020F0502020204030204" pitchFamily="34" charset="0"/>
              </a:rPr>
              <a:t>Please note that graphics from websites (such as the logo on your hospital's or university's home page) will only be 72dpi and not suitable for printing.</a:t>
            </a:r>
            <a:endParaRPr lang="en-US" sz="6600" dirty="0">
              <a:solidFill>
                <a:srgbClr val="7F7F7F"/>
              </a:solidFill>
              <a:latin typeface="Calibri" panose="020F0502020204030204" pitchFamily="34" charset="0"/>
              <a:cs typeface="Calibri" panose="020F0502020204030204" pitchFamily="34" charset="0"/>
            </a:endParaRPr>
          </a:p>
          <a:p>
            <a:pPr lvl="0" algn="ctr">
              <a:spcBef>
                <a:spcPts val="0"/>
              </a:spcBef>
              <a:spcAft>
                <a:spcPts val="2400"/>
              </a:spcAft>
            </a:pPr>
            <a:br>
              <a:rPr lang="en-US" sz="4800" dirty="0">
                <a:solidFill>
                  <a:srgbClr val="7F7F7F"/>
                </a:solidFill>
                <a:latin typeface="Calibri" panose="020F0502020204030204" pitchFamily="34" charset="0"/>
                <a:cs typeface="Calibri" panose="020F0502020204030204" pitchFamily="34" charset="0"/>
              </a:rPr>
            </a:br>
            <a:r>
              <a:rPr lang="en-US" sz="4800" dirty="0">
                <a:solidFill>
                  <a:srgbClr val="7F7F7F"/>
                </a:solidFill>
                <a:latin typeface="Calibri" panose="020F0502020204030204" pitchFamily="34" charset="0"/>
                <a:cs typeface="Calibri" panose="020F0502020204030204" pitchFamily="34" charset="0"/>
              </a:rPr>
              <a:t>[This sidebar area does not print.]</a:t>
            </a:r>
            <a:endParaRPr lang="en-US" sz="4800" dirty="0">
              <a:solidFill>
                <a:srgbClr val="7F7F7F"/>
              </a:solidFill>
              <a:latin typeface="Calibri" panose="020F0502020204030204" pitchFamily="34" charset="0"/>
              <a:cs typeface="Calibri" panose="020F0502020204030204" pitchFamily="34" charset="0"/>
            </a:endParaRPr>
          </a:p>
        </p:txBody>
      </p:sp>
      <p:grpSp>
        <p:nvGrpSpPr>
          <p:cNvPr id="2" name="Group 1"/>
          <p:cNvGrpSpPr/>
          <p:nvPr userDrawn="1"/>
        </p:nvGrpSpPr>
        <p:grpSpPr>
          <a:xfrm>
            <a:off x="33832800" y="0"/>
            <a:ext cx="12801600" cy="43891200"/>
            <a:chOff x="33832800" y="0"/>
            <a:chExt cx="12801600" cy="43891200"/>
          </a:xfrm>
        </p:grpSpPr>
        <p:sp>
          <p:nvSpPr>
            <p:cNvPr id="13" name="Instructions"/>
            <p:cNvSpPr/>
            <p:nvPr userDrawn="1"/>
          </p:nvSpPr>
          <p:spPr>
            <a:xfrm>
              <a:off x="33832800" y="0"/>
              <a:ext cx="12801600" cy="438912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28600" tIns="228600" rIns="228600" bIns="228600" rtlCol="0" anchor="t"/>
            <a:lstStyle>
              <a:defPPr>
                <a:defRPr lang="en-US"/>
              </a:defPPr>
              <a:lvl1pPr marL="0" algn="l" defTabSz="3686810" rtl="0" eaLnBrk="1" latinLnBrk="0" hangingPunct="1">
                <a:defRPr sz="7260" kern="1200">
                  <a:solidFill>
                    <a:schemeClr val="lt1"/>
                  </a:solidFill>
                  <a:latin typeface="+mn-lt"/>
                  <a:ea typeface="+mn-ea"/>
                  <a:cs typeface="+mn-cs"/>
                </a:defRPr>
              </a:lvl1pPr>
              <a:lvl2pPr marL="1843405" algn="l" defTabSz="3686810" rtl="0" eaLnBrk="1" latinLnBrk="0" hangingPunct="1">
                <a:defRPr sz="7260" kern="1200">
                  <a:solidFill>
                    <a:schemeClr val="lt1"/>
                  </a:solidFill>
                  <a:latin typeface="+mn-lt"/>
                  <a:ea typeface="+mn-ea"/>
                  <a:cs typeface="+mn-cs"/>
                </a:defRPr>
              </a:lvl2pPr>
              <a:lvl3pPr marL="3686810" algn="l" defTabSz="3686810" rtl="0" eaLnBrk="1" latinLnBrk="0" hangingPunct="1">
                <a:defRPr sz="7260" kern="1200">
                  <a:solidFill>
                    <a:schemeClr val="lt1"/>
                  </a:solidFill>
                  <a:latin typeface="+mn-lt"/>
                  <a:ea typeface="+mn-ea"/>
                  <a:cs typeface="+mn-cs"/>
                </a:defRPr>
              </a:lvl3pPr>
              <a:lvl4pPr marL="5530215" algn="l" defTabSz="3686810" rtl="0" eaLnBrk="1" latinLnBrk="0" hangingPunct="1">
                <a:defRPr sz="7260" kern="1200">
                  <a:solidFill>
                    <a:schemeClr val="lt1"/>
                  </a:solidFill>
                  <a:latin typeface="+mn-lt"/>
                  <a:ea typeface="+mn-ea"/>
                  <a:cs typeface="+mn-cs"/>
                </a:defRPr>
              </a:lvl4pPr>
              <a:lvl5pPr marL="7373620" algn="l" defTabSz="3686810" rtl="0" eaLnBrk="1" latinLnBrk="0" hangingPunct="1">
                <a:defRPr sz="7260" kern="1200">
                  <a:solidFill>
                    <a:schemeClr val="lt1"/>
                  </a:solidFill>
                  <a:latin typeface="+mn-lt"/>
                  <a:ea typeface="+mn-ea"/>
                  <a:cs typeface="+mn-cs"/>
                </a:defRPr>
              </a:lvl5pPr>
              <a:lvl6pPr marL="9217025" algn="l" defTabSz="3686810" rtl="0" eaLnBrk="1" latinLnBrk="0" hangingPunct="1">
                <a:defRPr sz="7260" kern="1200">
                  <a:solidFill>
                    <a:schemeClr val="lt1"/>
                  </a:solidFill>
                  <a:latin typeface="+mn-lt"/>
                  <a:ea typeface="+mn-ea"/>
                  <a:cs typeface="+mn-cs"/>
                </a:defRPr>
              </a:lvl6pPr>
              <a:lvl7pPr marL="11060430" algn="l" defTabSz="3686810" rtl="0" eaLnBrk="1" latinLnBrk="0" hangingPunct="1">
                <a:defRPr sz="7260" kern="1200">
                  <a:solidFill>
                    <a:schemeClr val="lt1"/>
                  </a:solidFill>
                  <a:latin typeface="+mn-lt"/>
                  <a:ea typeface="+mn-ea"/>
                  <a:cs typeface="+mn-cs"/>
                </a:defRPr>
              </a:lvl7pPr>
              <a:lvl8pPr marL="12903835" algn="l" defTabSz="3686810" rtl="0" eaLnBrk="1" latinLnBrk="0" hangingPunct="1">
                <a:defRPr sz="7260" kern="1200">
                  <a:solidFill>
                    <a:schemeClr val="lt1"/>
                  </a:solidFill>
                  <a:latin typeface="+mn-lt"/>
                  <a:ea typeface="+mn-ea"/>
                  <a:cs typeface="+mn-cs"/>
                </a:defRPr>
              </a:lvl8pPr>
              <a:lvl9pPr marL="14747240" algn="l" defTabSz="3686810" rtl="0" eaLnBrk="1" latinLnBrk="0" hangingPunct="1">
                <a:defRPr sz="7260" kern="1200">
                  <a:solidFill>
                    <a:schemeClr val="lt1"/>
                  </a:solidFill>
                  <a:latin typeface="+mn-lt"/>
                  <a:ea typeface="+mn-ea"/>
                  <a:cs typeface="+mn-cs"/>
                </a:defRPr>
              </a:lvl9pPr>
            </a:lstStyle>
            <a:p>
              <a:pPr lvl="0">
                <a:spcBef>
                  <a:spcPts val="0"/>
                </a:spcBef>
                <a:spcAft>
                  <a:spcPts val="2400"/>
                </a:spcAft>
              </a:pPr>
              <a:r>
                <a:rPr lang="en-US" sz="9600" dirty="0">
                  <a:solidFill>
                    <a:schemeClr val="bg1">
                      <a:lumMod val="50000"/>
                    </a:schemeClr>
                  </a:solidFill>
                  <a:latin typeface="Calibri" panose="020F0502020204030204" pitchFamily="34" charset="0"/>
                  <a:cs typeface="Calibri" panose="020F0502020204030204" pitchFamily="34" charset="0"/>
                </a:rPr>
                <a:t>Change</a:t>
              </a:r>
              <a:r>
                <a:rPr lang="en-US" sz="9600" baseline="0" dirty="0">
                  <a:solidFill>
                    <a:schemeClr val="bg1">
                      <a:lumMod val="50000"/>
                    </a:schemeClr>
                  </a:solidFill>
                  <a:latin typeface="Calibri" panose="020F0502020204030204" pitchFamily="34" charset="0"/>
                  <a:cs typeface="Calibri" panose="020F0502020204030204" pitchFamily="34" charset="0"/>
                </a:rPr>
                <a:t> Color Theme</a:t>
              </a:r>
              <a:r>
                <a:rPr lang="en-US" sz="9600" dirty="0">
                  <a:solidFill>
                    <a:schemeClr val="bg1">
                      <a:lumMod val="50000"/>
                    </a:schemeClr>
                  </a:solidFill>
                  <a:latin typeface="Calibri" panose="020F0502020204030204" pitchFamily="34" charset="0"/>
                  <a:cs typeface="Calibri" panose="020F0502020204030204" pitchFamily="34" charset="0"/>
                </a:rPr>
                <a:t>:</a:t>
              </a:r>
              <a:endParaRPr sz="960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2400"/>
                </a:spcAft>
              </a:pPr>
              <a:r>
                <a:rPr lang="en-US" sz="6600" dirty="0">
                  <a:solidFill>
                    <a:schemeClr val="bg1">
                      <a:lumMod val="50000"/>
                    </a:schemeClr>
                  </a:solidFill>
                  <a:latin typeface="Calibri" panose="020F0502020204030204" pitchFamily="34" charset="0"/>
                  <a:cs typeface="Calibri" panose="020F0502020204030204" pitchFamily="34" charset="0"/>
                </a:rPr>
                <a:t>This template is designed to use the built-in color themes in</a:t>
              </a:r>
              <a:r>
                <a:rPr lang="en-US" sz="6600" baseline="0" dirty="0">
                  <a:solidFill>
                    <a:schemeClr val="bg1">
                      <a:lumMod val="50000"/>
                    </a:schemeClr>
                  </a:solidFill>
                  <a:latin typeface="Calibri" panose="020F0502020204030204" pitchFamily="34" charset="0"/>
                  <a:cs typeface="Calibri" panose="020F0502020204030204" pitchFamily="34" charset="0"/>
                </a:rPr>
                <a:t> the newer versions of PowerPoint.</a:t>
              </a:r>
              <a:endParaRPr lang="en-US" sz="6600" baseline="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2400"/>
                </a:spcAft>
              </a:pPr>
              <a:r>
                <a:rPr lang="en-US" sz="6600" baseline="0" dirty="0">
                  <a:solidFill>
                    <a:schemeClr val="bg1">
                      <a:lumMod val="50000"/>
                    </a:schemeClr>
                  </a:solidFill>
                  <a:latin typeface="Calibri" panose="020F0502020204030204" pitchFamily="34" charset="0"/>
                  <a:cs typeface="Calibri" panose="020F0502020204030204" pitchFamily="34" charset="0"/>
                </a:rPr>
                <a:t>To change the color theme, select the </a:t>
              </a:r>
              <a:r>
                <a:rPr lang="en-US" sz="6600" b="1" baseline="0" dirty="0">
                  <a:solidFill>
                    <a:schemeClr val="bg1">
                      <a:lumMod val="50000"/>
                    </a:schemeClr>
                  </a:solidFill>
                  <a:latin typeface="Calibri" panose="020F0502020204030204" pitchFamily="34" charset="0"/>
                  <a:cs typeface="Calibri" panose="020F0502020204030204" pitchFamily="34" charset="0"/>
                </a:rPr>
                <a:t>Design</a:t>
              </a:r>
              <a:r>
                <a:rPr lang="en-US" sz="6600" baseline="0" dirty="0">
                  <a:solidFill>
                    <a:schemeClr val="bg1">
                      <a:lumMod val="50000"/>
                    </a:schemeClr>
                  </a:solidFill>
                  <a:latin typeface="Calibri" panose="020F0502020204030204" pitchFamily="34" charset="0"/>
                  <a:cs typeface="Calibri" panose="020F0502020204030204" pitchFamily="34" charset="0"/>
                </a:rPr>
                <a:t> tab, then select the </a:t>
              </a:r>
              <a:r>
                <a:rPr lang="en-US" sz="6600" b="1" baseline="0" dirty="0">
                  <a:solidFill>
                    <a:schemeClr val="bg1">
                      <a:lumMod val="50000"/>
                    </a:schemeClr>
                  </a:solidFill>
                  <a:latin typeface="Calibri" panose="020F0502020204030204" pitchFamily="34" charset="0"/>
                  <a:cs typeface="Calibri" panose="020F0502020204030204" pitchFamily="34" charset="0"/>
                </a:rPr>
                <a:t>Colors</a:t>
              </a:r>
              <a:r>
                <a:rPr lang="en-US" sz="6600" baseline="0" dirty="0">
                  <a:solidFill>
                    <a:schemeClr val="bg1">
                      <a:lumMod val="50000"/>
                    </a:schemeClr>
                  </a:solidFill>
                  <a:latin typeface="Calibri" panose="020F0502020204030204" pitchFamily="34" charset="0"/>
                  <a:cs typeface="Calibri" panose="020F0502020204030204" pitchFamily="34" charset="0"/>
                </a:rPr>
                <a:t> drop-down list.</a:t>
              </a:r>
              <a:endParaRPr lang="en-US" sz="6600" baseline="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2400"/>
                </a:spcAft>
              </a:pPr>
              <a:endParaRPr lang="en-US" sz="6600" baseline="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2400"/>
                </a:spcAft>
              </a:pPr>
              <a:endParaRPr lang="en-US" sz="6600" baseline="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2400"/>
                </a:spcAft>
              </a:pPr>
              <a:endParaRPr lang="en-US" sz="6600" baseline="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2400"/>
                </a:spcAft>
              </a:pPr>
              <a:endParaRPr lang="en-US" sz="6600" baseline="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2400"/>
                </a:spcAft>
              </a:pPr>
              <a:endParaRPr lang="en-US" sz="6600" baseline="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2400"/>
                </a:spcAft>
              </a:pPr>
              <a:endParaRPr lang="en-US" sz="6600" baseline="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2400"/>
                </a:spcAft>
              </a:pPr>
              <a:endParaRPr lang="en-US" sz="6600" baseline="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2400"/>
                </a:spcAft>
              </a:pPr>
              <a:endParaRPr lang="en-US" sz="6600" baseline="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2400"/>
                </a:spcAft>
              </a:pPr>
              <a:endParaRPr lang="en-US" sz="6600" baseline="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2400"/>
                </a:spcAft>
              </a:pPr>
              <a:r>
                <a:rPr lang="en-US" sz="6600" baseline="0" dirty="0">
                  <a:solidFill>
                    <a:schemeClr val="bg1">
                      <a:lumMod val="50000"/>
                    </a:schemeClr>
                  </a:solidFill>
                  <a:latin typeface="Calibri" panose="020F0502020204030204" pitchFamily="34" charset="0"/>
                  <a:cs typeface="Calibri" panose="020F0502020204030204" pitchFamily="34" charset="0"/>
                </a:rPr>
                <a:t>The default color theme for this template is “Office”, so you can always return to that after trying some of the alternatives.</a:t>
              </a:r>
              <a:endParaRPr lang="en-US" sz="6600" baseline="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2400"/>
                </a:spcAft>
              </a:pPr>
              <a:r>
                <a:rPr lang="en-US" sz="9600" dirty="0">
                  <a:solidFill>
                    <a:schemeClr val="bg1">
                      <a:lumMod val="50000"/>
                    </a:schemeClr>
                  </a:solidFill>
                  <a:latin typeface="Calibri" panose="020F0502020204030204" pitchFamily="34" charset="0"/>
                  <a:cs typeface="Calibri" panose="020F0502020204030204" pitchFamily="34" charset="0"/>
                </a:rPr>
                <a:t>Printing Your Poster:</a:t>
              </a:r>
              <a:endParaRPr lang="en-US" sz="960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2400"/>
                </a:spcAft>
              </a:pPr>
              <a:r>
                <a:rPr lang="en-US" sz="6600" dirty="0">
                  <a:solidFill>
                    <a:schemeClr val="bg1">
                      <a:lumMod val="50000"/>
                    </a:schemeClr>
                  </a:solidFill>
                  <a:latin typeface="Calibri" panose="020F0502020204030204" pitchFamily="34" charset="0"/>
                  <a:cs typeface="Calibri" panose="020F0502020204030204" pitchFamily="34" charset="0"/>
                </a:rPr>
                <a:t>Once your poster file is ready, visit</a:t>
              </a:r>
              <a:r>
                <a:rPr lang="en-US" sz="6600" baseline="0" dirty="0">
                  <a:solidFill>
                    <a:schemeClr val="bg1">
                      <a:lumMod val="50000"/>
                    </a:schemeClr>
                  </a:solidFill>
                  <a:latin typeface="Calibri" panose="020F0502020204030204" pitchFamily="34" charset="0"/>
                  <a:cs typeface="Calibri" panose="020F0502020204030204" pitchFamily="34" charset="0"/>
                </a:rPr>
                <a:t> </a:t>
              </a:r>
              <a:r>
                <a:rPr lang="en-US" sz="6600" b="1" baseline="0" dirty="0">
                  <a:solidFill>
                    <a:schemeClr val="bg1">
                      <a:lumMod val="50000"/>
                    </a:schemeClr>
                  </a:solidFill>
                  <a:latin typeface="Calibri" panose="020F0502020204030204" pitchFamily="34" charset="0"/>
                  <a:cs typeface="Calibri" panose="020F0502020204030204" pitchFamily="34" charset="0"/>
                </a:rPr>
                <a:t>www.genigraphics.com</a:t>
              </a:r>
              <a:r>
                <a:rPr lang="en-US" sz="6600" baseline="0" dirty="0">
                  <a:solidFill>
                    <a:schemeClr val="bg1">
                      <a:lumMod val="50000"/>
                    </a:schemeClr>
                  </a:solidFill>
                  <a:latin typeface="Calibri" panose="020F0502020204030204" pitchFamily="34" charset="0"/>
                  <a:cs typeface="Calibri" panose="020F0502020204030204" pitchFamily="34" charset="0"/>
                </a:rPr>
                <a:t> to order a high-quality, affordable poster print. Every order receives a free design review and we can deliver as fast as next business day within the US and Canada. </a:t>
              </a:r>
              <a:endParaRPr lang="en-US" sz="6600" baseline="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2400"/>
                </a:spcAft>
              </a:pPr>
              <a:r>
                <a:rPr lang="en-US" sz="6600" baseline="0" dirty="0">
                  <a:solidFill>
                    <a:schemeClr val="bg1">
                      <a:lumMod val="50000"/>
                    </a:schemeClr>
                  </a:solidFill>
                  <a:latin typeface="Calibri" panose="020F0502020204030204" pitchFamily="34" charset="0"/>
                  <a:cs typeface="Calibri" panose="020F0502020204030204" pitchFamily="34" charset="0"/>
                </a:rPr>
                <a:t>Genigraphics® has been producing output from PowerPoint® longer than anyone in the industry; dating back to when we helped Microsoft® design the PowerPoint software. </a:t>
              </a:r>
              <a:endParaRPr lang="en-US" sz="6600" baseline="0" dirty="0">
                <a:solidFill>
                  <a:schemeClr val="bg1">
                    <a:lumMod val="50000"/>
                  </a:schemeClr>
                </a:solidFill>
                <a:latin typeface="Calibri" panose="020F0502020204030204" pitchFamily="34" charset="0"/>
                <a:cs typeface="Calibri" panose="020F0502020204030204" pitchFamily="34" charset="0"/>
              </a:endParaRPr>
            </a:p>
            <a:p>
              <a:pPr lvl="0">
                <a:spcBef>
                  <a:spcPts val="0"/>
                </a:spcBef>
                <a:spcAft>
                  <a:spcPts val="0"/>
                </a:spcAft>
              </a:pPr>
              <a:endParaRPr lang="en-US" sz="6600" baseline="0" dirty="0">
                <a:solidFill>
                  <a:schemeClr val="bg1">
                    <a:lumMod val="50000"/>
                  </a:schemeClr>
                </a:solidFill>
                <a:latin typeface="Calibri" panose="020F0502020204030204" pitchFamily="34" charset="0"/>
                <a:cs typeface="Calibri" panose="020F0502020204030204" pitchFamily="34" charset="0"/>
              </a:endParaRPr>
            </a:p>
            <a:p>
              <a:pPr lvl="0" algn="ctr">
                <a:spcBef>
                  <a:spcPts val="0"/>
                </a:spcBef>
                <a:spcAft>
                  <a:spcPts val="0"/>
                </a:spcAft>
              </a:pPr>
              <a:r>
                <a:rPr lang="en-US" sz="6600" baseline="0" dirty="0">
                  <a:solidFill>
                    <a:schemeClr val="bg1">
                      <a:lumMod val="50000"/>
                    </a:schemeClr>
                  </a:solidFill>
                  <a:latin typeface="Calibri" panose="020F0502020204030204" pitchFamily="34" charset="0"/>
                  <a:cs typeface="Calibri" panose="020F0502020204030204" pitchFamily="34" charset="0"/>
                </a:rPr>
                <a:t>US and Canada:  1-800-790-4001</a:t>
              </a:r>
              <a:br>
                <a:rPr lang="en-US" sz="6600" baseline="0" dirty="0">
                  <a:solidFill>
                    <a:schemeClr val="bg1">
                      <a:lumMod val="50000"/>
                    </a:schemeClr>
                  </a:solidFill>
                  <a:latin typeface="Calibri" panose="020F0502020204030204" pitchFamily="34" charset="0"/>
                  <a:cs typeface="Calibri" panose="020F0502020204030204" pitchFamily="34" charset="0"/>
                </a:rPr>
              </a:br>
              <a:r>
                <a:rPr lang="en-US" sz="6600" baseline="0" dirty="0">
                  <a:solidFill>
                    <a:schemeClr val="bg1">
                      <a:lumMod val="50000"/>
                    </a:schemeClr>
                  </a:solidFill>
                  <a:latin typeface="Calibri" panose="020F0502020204030204" pitchFamily="34" charset="0"/>
                  <a:cs typeface="Calibri" panose="020F0502020204030204" pitchFamily="34" charset="0"/>
                </a:rPr>
                <a:t>Email: info@genigraphics.com</a:t>
              </a:r>
              <a:endParaRPr lang="en-US" sz="6600" baseline="0" dirty="0">
                <a:solidFill>
                  <a:schemeClr val="bg1">
                    <a:lumMod val="50000"/>
                  </a:schemeClr>
                </a:solidFill>
                <a:latin typeface="Calibri" panose="020F0502020204030204" pitchFamily="34" charset="0"/>
                <a:cs typeface="Calibri" panose="020F0502020204030204" pitchFamily="34" charset="0"/>
              </a:endParaRPr>
            </a:p>
            <a:p>
              <a:pPr lvl="0" algn="ctr">
                <a:spcBef>
                  <a:spcPts val="0"/>
                </a:spcBef>
                <a:spcAft>
                  <a:spcPts val="0"/>
                </a:spcAft>
              </a:pPr>
              <a:br>
                <a:rPr lang="en-US" sz="4800" dirty="0">
                  <a:solidFill>
                    <a:schemeClr val="bg1">
                      <a:lumMod val="50000"/>
                    </a:schemeClr>
                  </a:solidFill>
                  <a:latin typeface="Calibri" panose="020F0502020204030204" pitchFamily="34" charset="0"/>
                  <a:cs typeface="Calibri" panose="020F0502020204030204" pitchFamily="34" charset="0"/>
                </a:rPr>
              </a:br>
              <a:r>
                <a:rPr lang="en-US" sz="4800" dirty="0">
                  <a:solidFill>
                    <a:schemeClr val="bg1">
                      <a:lumMod val="50000"/>
                    </a:schemeClr>
                  </a:solidFill>
                  <a:latin typeface="Calibri" panose="020F0502020204030204" pitchFamily="34" charset="0"/>
                  <a:cs typeface="Calibri" panose="020F0502020204030204" pitchFamily="34" charset="0"/>
                </a:rPr>
                <a:t>[This sidebar area does not print.]</a:t>
              </a:r>
              <a:endParaRPr lang="en-US" sz="4800" dirty="0">
                <a:solidFill>
                  <a:schemeClr val="bg1">
                    <a:lumMod val="50000"/>
                  </a:schemeClr>
                </a:solidFill>
                <a:latin typeface="Calibri" panose="020F0502020204030204" pitchFamily="34" charset="0"/>
                <a:cs typeface="Calibri" panose="020F0502020204030204" pitchFamily="34" charset="0"/>
              </a:endParaRPr>
            </a:p>
          </p:txBody>
        </p:sp>
        <p:pic>
          <p:nvPicPr>
            <p:cNvPr id="14" name="Picture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281342" y="9260274"/>
              <a:ext cx="11904515" cy="10246926"/>
            </a:xfrm>
            <a:prstGeom prst="rect">
              <a:avLst/>
            </a:prstGeom>
          </p:spPr>
        </p:pic>
      </p:grpSp>
      <p:pic>
        <p:nvPicPr>
          <p:cNvPr id="3" name="Picture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6782765" y="43476672"/>
            <a:ext cx="5297435" cy="18592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985D6BDF-9D0E-4E2B-85B8-D8F4790360C9}"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BB075EA-769C-4ECD-B48E-D6FCDC24F876}"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45920" y="1757683"/>
            <a:ext cx="29626560" cy="7315200"/>
          </a:xfrm>
          <a:prstGeom prst="rect">
            <a:avLst/>
          </a:prstGeom>
        </p:spPr>
        <p:txBody>
          <a:bodyPr vert="horz" lIns="438912" tIns="219456" rIns="438912" bIns="219456" rtlCol="0" anchor="ctr">
            <a:normAutofit/>
          </a:bodyPr>
          <a:lstStyle/>
          <a:p>
            <a:r>
              <a:rPr lang="en-US" dirty="0"/>
              <a:t>Click to edit Master title style</a:t>
            </a:r>
            <a:endParaRPr lang="en-US" dirty="0"/>
          </a:p>
        </p:txBody>
      </p:sp>
      <p:sp>
        <p:nvSpPr>
          <p:cNvPr id="3" name="Text Placeholder 2"/>
          <p:cNvSpPr>
            <a:spLocks noGrp="1"/>
          </p:cNvSpPr>
          <p:nvPr>
            <p:ph type="body" idx="1"/>
          </p:nvPr>
        </p:nvSpPr>
        <p:spPr>
          <a:xfrm>
            <a:off x="1645920" y="10241283"/>
            <a:ext cx="29626560" cy="28966163"/>
          </a:xfrm>
          <a:prstGeom prst="rect">
            <a:avLst/>
          </a:prstGeom>
        </p:spPr>
        <p:txBody>
          <a:bodyPr vert="horz" lIns="438912" tIns="219456" rIns="438912" bIns="219456"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nvPr>
        </p:nvSpPr>
        <p:spPr>
          <a:xfrm>
            <a:off x="1645920" y="40680643"/>
            <a:ext cx="7680960" cy="2336800"/>
          </a:xfrm>
          <a:prstGeom prst="rect">
            <a:avLst/>
          </a:prstGeom>
        </p:spPr>
        <p:txBody>
          <a:bodyPr vert="horz" lIns="438912" tIns="219456" rIns="438912" bIns="219456" rtlCol="0" anchor="ctr"/>
          <a:lstStyle>
            <a:lvl1pPr algn="l">
              <a:defRPr sz="5800">
                <a:solidFill>
                  <a:schemeClr val="tx1">
                    <a:tint val="75000"/>
                  </a:schemeClr>
                </a:solidFill>
              </a:defRPr>
            </a:lvl1pPr>
          </a:lstStyle>
          <a:p>
            <a:fld id="{985D6BDF-9D0E-4E2B-85B8-D8F4790360C9}" type="datetimeFigureOut">
              <a:rPr lang="en-US" smtClean="0"/>
            </a:fld>
            <a:endParaRPr lang="en-US" dirty="0"/>
          </a:p>
        </p:txBody>
      </p:sp>
      <p:sp>
        <p:nvSpPr>
          <p:cNvPr id="5" name="Footer Placeholder 4"/>
          <p:cNvSpPr>
            <a:spLocks noGrp="1"/>
          </p:cNvSpPr>
          <p:nvPr>
            <p:ph type="ftr" sz="quarter" idx="3"/>
          </p:nvPr>
        </p:nvSpPr>
        <p:spPr>
          <a:xfrm>
            <a:off x="11247120" y="40680643"/>
            <a:ext cx="10424160" cy="2336800"/>
          </a:xfrm>
          <a:prstGeom prst="rect">
            <a:avLst/>
          </a:prstGeom>
        </p:spPr>
        <p:txBody>
          <a:bodyPr vert="horz" lIns="438912" tIns="219456" rIns="438912" bIns="219456" rtlCol="0" anchor="ctr"/>
          <a:lstStyle>
            <a:lvl1pPr algn="ctr">
              <a:defRPr sz="58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23591520" y="40680643"/>
            <a:ext cx="7680960" cy="2336800"/>
          </a:xfrm>
          <a:prstGeom prst="rect">
            <a:avLst/>
          </a:prstGeom>
        </p:spPr>
        <p:txBody>
          <a:bodyPr vert="horz" lIns="438912" tIns="219456" rIns="438912" bIns="219456" rtlCol="0" anchor="ctr"/>
          <a:lstStyle>
            <a:lvl1pPr algn="r">
              <a:defRPr sz="5800">
                <a:solidFill>
                  <a:schemeClr val="tx1">
                    <a:tint val="75000"/>
                  </a:schemeClr>
                </a:solidFill>
              </a:defRPr>
            </a:lvl1pPr>
          </a:lstStyle>
          <a:p>
            <a:fld id="{FBB075EA-769C-4ECD-B48E-D6FCDC24F876}"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ctr" defTabSz="4389120" rtl="0" eaLnBrk="1" latinLnBrk="0" hangingPunct="1">
        <a:spcBef>
          <a:spcPct val="0"/>
        </a:spcBef>
        <a:buNone/>
        <a:defRPr sz="8000" kern="1200">
          <a:solidFill>
            <a:schemeClr val="tx1"/>
          </a:solidFill>
          <a:latin typeface="+mj-lt"/>
          <a:ea typeface="+mj-ea"/>
          <a:cs typeface="+mj-cs"/>
        </a:defRPr>
      </a:lvl1pPr>
    </p:titleStyle>
    <p:bodyStyle>
      <a:lvl1pPr marL="457200" indent="-457200" algn="l" defTabSz="4389120"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1pPr>
      <a:lvl2pPr marL="914400" indent="-457200" algn="l" defTabSz="4389120"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2pPr>
      <a:lvl3pPr marL="1371600" indent="-457200" algn="l" defTabSz="4389120"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3pPr>
      <a:lvl4pPr marL="1828800" indent="-457200" algn="l" defTabSz="4389120"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4pPr>
      <a:lvl5pPr marL="2286000" indent="-457200" algn="l" defTabSz="4389120"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5pPr>
      <a:lvl6pPr marL="12070080"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6pPr>
      <a:lvl7pPr marL="14264640"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7pPr>
      <a:lvl8pPr marL="16459200"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8pPr>
      <a:lvl9pPr marL="18653760" indent="-1097280" algn="l" defTabSz="4389120" rtl="0" eaLnBrk="1" latinLnBrk="0" hangingPunct="1">
        <a:spcBef>
          <a:spcPct val="20000"/>
        </a:spcBef>
        <a:buFont typeface="Arial" panose="020B0604020202020204" pitchFamily="34" charset="0"/>
        <a:buChar char="•"/>
        <a:defRPr sz="9600" kern="1200">
          <a:solidFill>
            <a:schemeClr val="tx1"/>
          </a:solidFill>
          <a:latin typeface="+mn-lt"/>
          <a:ea typeface="+mn-ea"/>
          <a:cs typeface="+mn-cs"/>
        </a:defRPr>
      </a:lvl9pPr>
    </p:bodyStyle>
    <p:other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22"/>
          <p:cNvSpPr txBox="1">
            <a:spLocks noChangeArrowheads="1"/>
          </p:cNvSpPr>
          <p:nvPr/>
        </p:nvSpPr>
        <p:spPr bwMode="auto">
          <a:xfrm>
            <a:off x="5486400" y="355739"/>
            <a:ext cx="21945600" cy="2760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2880" tIns="457200" rIns="182880" bIns="457200" anchor="ctr" anchorCtr="0">
            <a:spAutoFit/>
          </a:bodyPr>
          <a:lstStyle>
            <a:lvl1pPr defTabSz="4389755" eaLnBrk="0" hangingPunct="0">
              <a:defRPr sz="2200">
                <a:solidFill>
                  <a:schemeClr val="tx1"/>
                </a:solidFill>
                <a:latin typeface="Arial" panose="020B0604020202020204" pitchFamily="34" charset="0"/>
              </a:defRPr>
            </a:lvl1pPr>
            <a:lvl2pPr marL="742950" indent="-285750" defTabSz="4389755" eaLnBrk="0" hangingPunct="0">
              <a:defRPr sz="2200">
                <a:solidFill>
                  <a:schemeClr val="tx1"/>
                </a:solidFill>
                <a:latin typeface="Arial" panose="020B0604020202020204" pitchFamily="34" charset="0"/>
              </a:defRPr>
            </a:lvl2pPr>
            <a:lvl3pPr marL="1143000" indent="-228600" defTabSz="4389755" eaLnBrk="0" hangingPunct="0">
              <a:defRPr sz="2200">
                <a:solidFill>
                  <a:schemeClr val="tx1"/>
                </a:solidFill>
                <a:latin typeface="Arial" panose="020B0604020202020204" pitchFamily="34" charset="0"/>
              </a:defRPr>
            </a:lvl3pPr>
            <a:lvl4pPr marL="1600200" indent="-228600" defTabSz="4389755" eaLnBrk="0" hangingPunct="0">
              <a:defRPr sz="2200">
                <a:solidFill>
                  <a:schemeClr val="tx1"/>
                </a:solidFill>
                <a:latin typeface="Arial" panose="020B0604020202020204" pitchFamily="34" charset="0"/>
              </a:defRPr>
            </a:lvl4pPr>
            <a:lvl5pPr marL="2057400" indent="-228600" defTabSz="4389755" eaLnBrk="0" hangingPunct="0">
              <a:defRPr sz="2200">
                <a:solidFill>
                  <a:schemeClr val="tx1"/>
                </a:solidFill>
                <a:latin typeface="Arial" panose="020B0604020202020204" pitchFamily="34" charset="0"/>
              </a:defRPr>
            </a:lvl5pPr>
            <a:lvl6pPr marL="2514600" indent="-228600" defTabSz="4389755" eaLnBrk="0" fontAlgn="base" hangingPunct="0">
              <a:spcBef>
                <a:spcPct val="0"/>
              </a:spcBef>
              <a:spcAft>
                <a:spcPct val="0"/>
              </a:spcAft>
              <a:defRPr sz="2200">
                <a:solidFill>
                  <a:schemeClr val="tx1"/>
                </a:solidFill>
                <a:latin typeface="Arial" panose="020B0604020202020204" pitchFamily="34" charset="0"/>
              </a:defRPr>
            </a:lvl6pPr>
            <a:lvl7pPr marL="2971800" indent="-228600" defTabSz="4389755" eaLnBrk="0" fontAlgn="base" hangingPunct="0">
              <a:spcBef>
                <a:spcPct val="0"/>
              </a:spcBef>
              <a:spcAft>
                <a:spcPct val="0"/>
              </a:spcAft>
              <a:defRPr sz="2200">
                <a:solidFill>
                  <a:schemeClr val="tx1"/>
                </a:solidFill>
                <a:latin typeface="Arial" panose="020B0604020202020204" pitchFamily="34" charset="0"/>
              </a:defRPr>
            </a:lvl7pPr>
            <a:lvl8pPr marL="3429000" indent="-228600" defTabSz="4389755" eaLnBrk="0" fontAlgn="base" hangingPunct="0">
              <a:spcBef>
                <a:spcPct val="0"/>
              </a:spcBef>
              <a:spcAft>
                <a:spcPct val="0"/>
              </a:spcAft>
              <a:defRPr sz="2200">
                <a:solidFill>
                  <a:schemeClr val="tx1"/>
                </a:solidFill>
                <a:latin typeface="Arial" panose="020B0604020202020204" pitchFamily="34" charset="0"/>
              </a:defRPr>
            </a:lvl8pPr>
            <a:lvl9pPr marL="3886200" indent="-228600" defTabSz="4389755" eaLnBrk="0" fontAlgn="base" hangingPunct="0">
              <a:spcBef>
                <a:spcPct val="0"/>
              </a:spcBef>
              <a:spcAft>
                <a:spcPct val="0"/>
              </a:spcAft>
              <a:defRPr sz="2200">
                <a:solidFill>
                  <a:schemeClr val="tx1"/>
                </a:solidFill>
                <a:latin typeface="Arial" panose="020B0604020202020204" pitchFamily="34" charset="0"/>
              </a:defRPr>
            </a:lvl9pPr>
          </a:lstStyle>
          <a:p>
            <a:pPr algn="ctr" eaLnBrk="1" hangingPunct="1"/>
            <a:r>
              <a:rPr lang="en-US" sz="6000" b="1" dirty="0">
                <a:solidFill>
                  <a:schemeClr val="bg1"/>
                </a:solidFill>
              </a:rPr>
              <a:t> </a:t>
            </a:r>
            <a:r>
              <a:rPr lang="en-IN" altLang="en-US" sz="6000" b="1" dirty="0">
                <a:solidFill>
                  <a:schemeClr val="bg1"/>
                </a:solidFill>
              </a:rPr>
              <a:t>Enhancing Gastric Cancer Classification Using Optimised CNN Architecture.</a:t>
            </a:r>
            <a:endParaRPr lang="en-IN" altLang="en-US" sz="8000" b="1" dirty="0">
              <a:solidFill>
                <a:schemeClr val="bg1"/>
              </a:solidFill>
              <a:latin typeface="+mj-lt"/>
            </a:endParaRPr>
          </a:p>
        </p:txBody>
      </p:sp>
      <p:sp>
        <p:nvSpPr>
          <p:cNvPr id="5" name="Text Box 123"/>
          <p:cNvSpPr txBox="1">
            <a:spLocks noChangeArrowheads="1"/>
          </p:cNvSpPr>
          <p:nvPr/>
        </p:nvSpPr>
        <p:spPr bwMode="auto">
          <a:xfrm>
            <a:off x="5486400" y="3200400"/>
            <a:ext cx="21945600"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2880" tIns="182880" rIns="182880" bIns="182880" anchor="ctr" anchorCtr="0"/>
          <a:lstStyle>
            <a:lvl1pPr defTabSz="4389755" eaLnBrk="0" hangingPunct="0">
              <a:defRPr sz="2200">
                <a:solidFill>
                  <a:schemeClr val="tx1"/>
                </a:solidFill>
                <a:latin typeface="Arial" panose="020B0604020202020204" pitchFamily="34" charset="0"/>
              </a:defRPr>
            </a:lvl1pPr>
            <a:lvl2pPr marL="742950" indent="-285750" defTabSz="4389755" eaLnBrk="0" hangingPunct="0">
              <a:defRPr sz="2200">
                <a:solidFill>
                  <a:schemeClr val="tx1"/>
                </a:solidFill>
                <a:latin typeface="Arial" panose="020B0604020202020204" pitchFamily="34" charset="0"/>
              </a:defRPr>
            </a:lvl2pPr>
            <a:lvl3pPr marL="1143000" indent="-228600" defTabSz="4389755" eaLnBrk="0" hangingPunct="0">
              <a:defRPr sz="2200">
                <a:solidFill>
                  <a:schemeClr val="tx1"/>
                </a:solidFill>
                <a:latin typeface="Arial" panose="020B0604020202020204" pitchFamily="34" charset="0"/>
              </a:defRPr>
            </a:lvl3pPr>
            <a:lvl4pPr marL="1600200" indent="-228600" defTabSz="4389755" eaLnBrk="0" hangingPunct="0">
              <a:defRPr sz="2200">
                <a:solidFill>
                  <a:schemeClr val="tx1"/>
                </a:solidFill>
                <a:latin typeface="Arial" panose="020B0604020202020204" pitchFamily="34" charset="0"/>
              </a:defRPr>
            </a:lvl4pPr>
            <a:lvl5pPr marL="2057400" indent="-228600" defTabSz="4389755" eaLnBrk="0" hangingPunct="0">
              <a:defRPr sz="2200">
                <a:solidFill>
                  <a:schemeClr val="tx1"/>
                </a:solidFill>
                <a:latin typeface="Arial" panose="020B0604020202020204" pitchFamily="34" charset="0"/>
              </a:defRPr>
            </a:lvl5pPr>
            <a:lvl6pPr marL="2514600" indent="-228600" defTabSz="4389755" eaLnBrk="0" fontAlgn="base" hangingPunct="0">
              <a:spcBef>
                <a:spcPct val="0"/>
              </a:spcBef>
              <a:spcAft>
                <a:spcPct val="0"/>
              </a:spcAft>
              <a:defRPr sz="2200">
                <a:solidFill>
                  <a:schemeClr val="tx1"/>
                </a:solidFill>
                <a:latin typeface="Arial" panose="020B0604020202020204" pitchFamily="34" charset="0"/>
              </a:defRPr>
            </a:lvl6pPr>
            <a:lvl7pPr marL="2971800" indent="-228600" defTabSz="4389755" eaLnBrk="0" fontAlgn="base" hangingPunct="0">
              <a:spcBef>
                <a:spcPct val="0"/>
              </a:spcBef>
              <a:spcAft>
                <a:spcPct val="0"/>
              </a:spcAft>
              <a:defRPr sz="2200">
                <a:solidFill>
                  <a:schemeClr val="tx1"/>
                </a:solidFill>
                <a:latin typeface="Arial" panose="020B0604020202020204" pitchFamily="34" charset="0"/>
              </a:defRPr>
            </a:lvl7pPr>
            <a:lvl8pPr marL="3429000" indent="-228600" defTabSz="4389755" eaLnBrk="0" fontAlgn="base" hangingPunct="0">
              <a:spcBef>
                <a:spcPct val="0"/>
              </a:spcBef>
              <a:spcAft>
                <a:spcPct val="0"/>
              </a:spcAft>
              <a:defRPr sz="2200">
                <a:solidFill>
                  <a:schemeClr val="tx1"/>
                </a:solidFill>
                <a:latin typeface="Arial" panose="020B0604020202020204" pitchFamily="34" charset="0"/>
              </a:defRPr>
            </a:lvl8pPr>
            <a:lvl9pPr marL="3886200" indent="-228600" defTabSz="4389755" eaLnBrk="0" fontAlgn="base" hangingPunct="0">
              <a:spcBef>
                <a:spcPct val="0"/>
              </a:spcBef>
              <a:spcAft>
                <a:spcPct val="0"/>
              </a:spcAft>
              <a:defRPr sz="2200">
                <a:solidFill>
                  <a:schemeClr val="tx1"/>
                </a:solidFill>
                <a:latin typeface="Arial" panose="020B0604020202020204" pitchFamily="34" charset="0"/>
              </a:defRPr>
            </a:lvl9pPr>
          </a:lstStyle>
          <a:p>
            <a:pPr algn="ctr" eaLnBrk="1" hangingPunct="1"/>
            <a:r>
              <a:rPr lang="en-IN" altLang="en-US" sz="4800" dirty="0">
                <a:solidFill>
                  <a:schemeClr val="accent3">
                    <a:lumMod val="20000"/>
                    <a:lumOff val="80000"/>
                  </a:schemeClr>
                </a:solidFill>
                <a:latin typeface="+mn-lt"/>
              </a:rPr>
              <a:t>Y Sushanth Reddy</a:t>
            </a:r>
            <a:r>
              <a:rPr lang="en-US" sz="4800" dirty="0">
                <a:solidFill>
                  <a:schemeClr val="accent3">
                    <a:lumMod val="20000"/>
                    <a:lumOff val="80000"/>
                  </a:schemeClr>
                </a:solidFill>
                <a:latin typeface="+mn-lt"/>
              </a:rPr>
              <a:t> , </a:t>
            </a:r>
            <a:r>
              <a:rPr lang="en-IN" altLang="en-US" sz="4800" dirty="0">
                <a:solidFill>
                  <a:schemeClr val="accent3">
                    <a:lumMod val="20000"/>
                    <a:lumOff val="80000"/>
                  </a:schemeClr>
                </a:solidFill>
                <a:latin typeface="+mn-lt"/>
              </a:rPr>
              <a:t>M Revanth </a:t>
            </a:r>
            <a:r>
              <a:rPr lang="en-US" sz="4800" dirty="0">
                <a:solidFill>
                  <a:schemeClr val="accent3">
                    <a:lumMod val="20000"/>
                    <a:lumOff val="80000"/>
                  </a:schemeClr>
                </a:solidFill>
                <a:latin typeface="+mn-lt"/>
              </a:rPr>
              <a:t> </a:t>
            </a:r>
            <a:endParaRPr lang="en-US" sz="4800" baseline="30000" dirty="0">
              <a:solidFill>
                <a:schemeClr val="accent3">
                  <a:lumMod val="20000"/>
                  <a:lumOff val="80000"/>
                </a:schemeClr>
              </a:solidFill>
              <a:latin typeface="+mn-lt"/>
            </a:endParaRPr>
          </a:p>
          <a:p>
            <a:pPr algn="ctr" eaLnBrk="1" hangingPunct="1"/>
            <a:r>
              <a:rPr lang="en-US" sz="4800" baseline="30000" dirty="0">
                <a:solidFill>
                  <a:schemeClr val="accent3">
                    <a:lumMod val="20000"/>
                    <a:lumOff val="80000"/>
                  </a:schemeClr>
                </a:solidFill>
                <a:latin typeface="+mn-lt"/>
              </a:rPr>
              <a:t> </a:t>
            </a:r>
            <a:r>
              <a:rPr lang="en-US" sz="4800" dirty="0">
                <a:solidFill>
                  <a:schemeClr val="accent3">
                    <a:lumMod val="20000"/>
                    <a:lumOff val="80000"/>
                  </a:schemeClr>
                </a:solidFill>
                <a:latin typeface="+mn-lt"/>
              </a:rPr>
              <a:t>Vel Tech Rangarajan Dr. Sagunthala R&amp;D Institute of Science and Technology</a:t>
            </a:r>
            <a:r>
              <a:rPr lang="en-IN" altLang="en-US" sz="4800" dirty="0">
                <a:solidFill>
                  <a:schemeClr val="accent3">
                    <a:lumMod val="20000"/>
                    <a:lumOff val="80000"/>
                  </a:schemeClr>
                </a:solidFill>
                <a:latin typeface="+mn-lt"/>
              </a:rPr>
              <a:t>.</a:t>
            </a:r>
            <a:endParaRPr lang="en-IN" altLang="en-US" sz="4800" dirty="0">
              <a:solidFill>
                <a:schemeClr val="accent3">
                  <a:lumMod val="20000"/>
                  <a:lumOff val="80000"/>
                </a:schemeClr>
              </a:solidFill>
              <a:latin typeface="+mn-lt"/>
            </a:endParaRPr>
          </a:p>
        </p:txBody>
      </p:sp>
      <p:sp>
        <p:nvSpPr>
          <p:cNvPr id="24" name="TextBox 23"/>
          <p:cNvSpPr txBox="1"/>
          <p:nvPr/>
        </p:nvSpPr>
        <p:spPr>
          <a:xfrm>
            <a:off x="1828800" y="40050719"/>
            <a:ext cx="12672695" cy="2061210"/>
          </a:xfrm>
          <a:prstGeom prst="rect">
            <a:avLst/>
          </a:prstGeom>
          <a:solidFill>
            <a:schemeClr val="accent1">
              <a:lumMod val="40000"/>
              <a:lumOff val="60000"/>
            </a:schemeClr>
          </a:solidFill>
        </p:spPr>
        <p:txBody>
          <a:bodyPr wrap="none" rtlCol="0">
            <a:spAutoFit/>
          </a:bodyPr>
          <a:lstStyle/>
          <a:p>
            <a:r>
              <a:rPr lang="en-IN" altLang="en-US" sz="3200" dirty="0"/>
              <a:t>Y. SUSHANTH REDDY, M. REVANTH</a:t>
            </a:r>
            <a:endParaRPr lang="en-US" sz="3200" dirty="0"/>
          </a:p>
          <a:p>
            <a:r>
              <a:rPr lang="en-US" sz="3200" dirty="0"/>
              <a:t>Vel Tech Rangarajan Dr. Sagunthala R&amp;D Institute of Science and Technology</a:t>
            </a:r>
            <a:endParaRPr lang="en-US" sz="3200" dirty="0"/>
          </a:p>
          <a:p>
            <a:r>
              <a:rPr lang="en-US" sz="3200" dirty="0"/>
              <a:t>Email: </a:t>
            </a:r>
            <a:r>
              <a:rPr lang="en-IN" altLang="en-US" sz="3200" dirty="0"/>
              <a:t>VTU22734@veltech.edu.in</a:t>
            </a:r>
            <a:endParaRPr lang="en-US" sz="3200" dirty="0"/>
          </a:p>
          <a:p>
            <a:r>
              <a:rPr lang="en-US" sz="3200" dirty="0"/>
              <a:t>Phone:</a:t>
            </a:r>
            <a:endParaRPr lang="en-US" sz="3200" dirty="0"/>
          </a:p>
        </p:txBody>
      </p:sp>
      <p:sp>
        <p:nvSpPr>
          <p:cNvPr id="25" name="TextBox 24"/>
          <p:cNvSpPr txBox="1"/>
          <p:nvPr/>
        </p:nvSpPr>
        <p:spPr>
          <a:xfrm>
            <a:off x="1828800" y="38862000"/>
            <a:ext cx="6081280" cy="1015663"/>
          </a:xfrm>
          <a:prstGeom prst="rect">
            <a:avLst/>
          </a:prstGeom>
          <a:noFill/>
        </p:spPr>
        <p:txBody>
          <a:bodyPr wrap="none" rtlCol="0">
            <a:spAutoFit/>
          </a:bodyPr>
          <a:lstStyle/>
          <a:p>
            <a:r>
              <a:rPr lang="en-US" sz="6000" b="1" dirty="0"/>
              <a:t>Acknowledgments</a:t>
            </a:r>
            <a:endParaRPr lang="en-US" sz="6000" b="1" dirty="0"/>
          </a:p>
        </p:txBody>
      </p:sp>
      <p:sp>
        <p:nvSpPr>
          <p:cNvPr id="26" name="TextBox 25"/>
          <p:cNvSpPr txBox="1"/>
          <p:nvPr/>
        </p:nvSpPr>
        <p:spPr>
          <a:xfrm>
            <a:off x="16916400" y="40050718"/>
            <a:ext cx="14173200" cy="3535681"/>
          </a:xfrm>
          <a:prstGeom prst="rect">
            <a:avLst/>
          </a:prstGeom>
          <a:noFill/>
        </p:spPr>
        <p:txBody>
          <a:bodyPr wrap="square" tIns="91440" bIns="91440" numCol="1" spcCol="457200" rtlCol="0">
            <a:noAutofit/>
          </a:bodyPr>
          <a:lstStyle/>
          <a:p>
            <a:pPr marL="457200" indent="-457200">
              <a:buFont typeface="+mj-lt"/>
              <a:buAutoNum type="arabicPeriod"/>
            </a:pPr>
            <a:r>
              <a:rPr lang="en-US" altLang="en-US" sz="1800" dirty="0"/>
              <a:t>Iizuka et al. (2020) proposed a deep CNN model for whole-slide gastric histopathology classification. Their method achieved over 90% accuracy using weakly supervised learning on large histopathological datasets.</a:t>
            </a:r>
            <a:endParaRPr lang="en-US" altLang="en-US" sz="1800" dirty="0"/>
          </a:p>
          <a:p>
            <a:pPr marL="457200" indent="-457200">
              <a:buFont typeface="+mj-lt"/>
              <a:buAutoNum type="arabicPeriod"/>
            </a:pPr>
            <a:r>
              <a:rPr lang="en-US" altLang="en-US" sz="1800" dirty="0"/>
              <a:t>Kanavati et al. (2021) created an endoscopic cancer classification system, which achieved better performance by applying EfficientNet transfer learning to small data sets.</a:t>
            </a:r>
            <a:r>
              <a:rPr lang="en-US" sz="1800" dirty="0"/>
              <a:t> </a:t>
            </a:r>
            <a:endParaRPr lang="en-US" sz="1800" dirty="0"/>
          </a:p>
          <a:p>
            <a:pPr marL="457200" indent="-457200">
              <a:buFont typeface="+mj-lt"/>
              <a:buAutoNum type="arabicPeriod"/>
            </a:pPr>
            <a:r>
              <a:rPr lang="en-US" altLang="en-US" sz="1800" dirty="0"/>
              <a:t>Jang et al. (2021) created a CNN model that performs automated seg- mentation of gastric carcinoma pathological subtypes through analysis of whole-slide images. The research demonstrates that CNNs can perform detailed classification of gastric lesions.</a:t>
            </a:r>
            <a:endParaRPr lang="en-US" altLang="en-US" sz="1800" dirty="0"/>
          </a:p>
          <a:p>
            <a:pPr marL="457200" indent="-457200">
              <a:buFont typeface="+mj-lt"/>
              <a:buAutoNum type="arabicPeriod"/>
            </a:pPr>
            <a:r>
              <a:rPr lang="en-US" altLang="en-US" sz="1800" dirty="0"/>
              <a:t>Bhardwaj and his team published their research in 2024, which intro- duced advanced CNN models for gastric cancer diagnosis through trans- fer learning with EfficientNetB6 and DenseNet169 and hyperparameter optimisation. Their model achieved up to 99.88% accuracy in endoscopic image classification.</a:t>
            </a:r>
            <a:endParaRPr lang="en-US" altLang="en-US" sz="1800" dirty="0"/>
          </a:p>
          <a:p>
            <a:pPr marL="457200" indent="-457200">
              <a:buFont typeface="+mj-lt"/>
              <a:buAutoNum type="arabicPeriod"/>
            </a:pPr>
            <a:r>
              <a:rPr lang="en-US" altLang="en-US" sz="1800" dirty="0">
                <a:latin typeface="+mj-lt"/>
              </a:rPr>
              <a:t>Ren, Y., Han, J., Luo, F. (2023). Explainable CNN framework for endo- scopic gastric lesion detection using Grad-CAM visualisation. Medical Physics, 50(5), 3221–3235.</a:t>
            </a:r>
            <a:r>
              <a:rPr lang="en-US" sz="1800" dirty="0">
                <a:latin typeface="+mj-lt"/>
              </a:rPr>
              <a:t> </a:t>
            </a:r>
            <a:endParaRPr lang="en-US" sz="1800" b="0" i="0" dirty="0">
              <a:solidFill>
                <a:srgbClr val="222222"/>
              </a:solidFill>
              <a:effectLst/>
              <a:latin typeface="+mj-lt"/>
            </a:endParaRPr>
          </a:p>
          <a:p>
            <a:pPr algn="l"/>
            <a:endParaRPr lang="en-US" sz="1800" b="0" i="0" dirty="0">
              <a:solidFill>
                <a:srgbClr val="006621"/>
              </a:solidFill>
              <a:effectLst/>
              <a:latin typeface="+mj-lt"/>
            </a:endParaRPr>
          </a:p>
          <a:p>
            <a:pPr marL="457200" indent="-457200">
              <a:buFont typeface="+mj-lt"/>
              <a:buAutoNum type="arabicPeriod"/>
            </a:pPr>
            <a:endParaRPr lang="en-US" sz="1800" dirty="0"/>
          </a:p>
          <a:p>
            <a:pPr marL="457200" indent="-457200">
              <a:buFont typeface="+mj-lt"/>
              <a:buAutoNum type="arabicPeriod"/>
            </a:pPr>
            <a:endParaRPr lang="en-US" sz="1800" dirty="0"/>
          </a:p>
        </p:txBody>
      </p:sp>
      <p:sp>
        <p:nvSpPr>
          <p:cNvPr id="27" name="TextBox 26"/>
          <p:cNvSpPr txBox="1"/>
          <p:nvPr/>
        </p:nvSpPr>
        <p:spPr>
          <a:xfrm>
            <a:off x="16916400" y="38862000"/>
            <a:ext cx="3689793" cy="1015663"/>
          </a:xfrm>
          <a:prstGeom prst="rect">
            <a:avLst/>
          </a:prstGeom>
          <a:noFill/>
        </p:spPr>
        <p:txBody>
          <a:bodyPr wrap="none" rtlCol="0">
            <a:spAutoFit/>
          </a:bodyPr>
          <a:lstStyle/>
          <a:p>
            <a:r>
              <a:rPr lang="en-US" sz="6000" b="1" dirty="0"/>
              <a:t>References</a:t>
            </a:r>
            <a:endParaRPr lang="en-US" sz="6000" b="1" dirty="0"/>
          </a:p>
        </p:txBody>
      </p:sp>
      <p:sp>
        <p:nvSpPr>
          <p:cNvPr id="10" name="Text Box 189"/>
          <p:cNvSpPr txBox="1">
            <a:spLocks noChangeArrowheads="1"/>
          </p:cNvSpPr>
          <p:nvPr/>
        </p:nvSpPr>
        <p:spPr bwMode="auto">
          <a:xfrm>
            <a:off x="1828800" y="7107555"/>
            <a:ext cx="14173200" cy="7044690"/>
          </a:xfrm>
          <a:prstGeom prst="rect">
            <a:avLst/>
          </a:prstGeom>
          <a:solidFill>
            <a:schemeClr val="bg1"/>
          </a:solidFill>
          <a:ln w="12700">
            <a:solidFill>
              <a:schemeClr val="accent1">
                <a:lumMod val="75000"/>
              </a:schemeClr>
            </a:solidFill>
          </a:ln>
          <a:effectLst/>
        </p:spPr>
        <p:txBody>
          <a:bodyPr lIns="182880" tIns="182880" rIns="182880" bIns="182880">
            <a:noAutofit/>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algn="just" eaLnBrk="1" hangingPunct="1"/>
            <a:r>
              <a:rPr lang="en-US" altLang="en-US" sz="3200" dirty="0">
                <a:latin typeface="Calibri" panose="020F0502020204030204" pitchFamily="34" charset="0"/>
              </a:rPr>
              <a:t>Gastric cancer has always been a major cause of cancer-related mortality globally, where classification plays a vital role in improving patient health outcomes. Recent progresses in deep learning models, especially in Convolutional Neural Network (CNN), have demonstrated improved potential in image analysis of different healthcare-related areas, though problems still exist in optimizing deep models due to overfitting complications and computational costs. Therefore, in this study, a more efficient framework in classifying gastric cancers using optimized CNN models is provided to enhance classification accuracy without compromising models' efficiency.</a:t>
            </a:r>
            <a:r>
              <a:rPr lang="en-IN" altLang="en-US" sz="3200" dirty="0">
                <a:latin typeface="Calibri" panose="020F0502020204030204" pitchFamily="34" charset="0"/>
              </a:rPr>
              <a:t> </a:t>
            </a:r>
            <a:r>
              <a:rPr lang="en-US" altLang="en-US" sz="3200" dirty="0">
                <a:latin typeface="Calibri" panose="020F0502020204030204" pitchFamily="34" charset="0"/>
              </a:rPr>
              <a:t>The proposed model utilizes various architectural optimizations that are essential to efficiently learn the discriminative features for gastric endoscopic and histopathological images. Moreover, experiments are performed using benchmark gastric cancer images to evaluate and validate that the proposed optimized CNN outperforms other conventional CNN and state-of-the-art approaches regarding various performance measures like accuracy, sensitivity, specificity, and F1 score.</a:t>
            </a:r>
            <a:endParaRPr lang="en-US" altLang="en-US" sz="3200" dirty="0">
              <a:latin typeface="Calibri" panose="020F0502020204030204" pitchFamily="34" charset="0"/>
            </a:endParaRPr>
          </a:p>
        </p:txBody>
      </p:sp>
      <p:sp>
        <p:nvSpPr>
          <p:cNvPr id="32" name="Rectangle 31"/>
          <p:cNvSpPr/>
          <p:nvPr/>
        </p:nvSpPr>
        <p:spPr>
          <a:xfrm>
            <a:off x="1828800" y="6172200"/>
            <a:ext cx="14173200" cy="914400"/>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sz="6000" b="1" dirty="0">
                <a:solidFill>
                  <a:schemeClr val="accent3">
                    <a:lumMod val="20000"/>
                    <a:lumOff val="80000"/>
                  </a:schemeClr>
                </a:solidFill>
              </a:rPr>
              <a:t>Abstract</a:t>
            </a:r>
            <a:endParaRPr lang="en-US" sz="6000" b="1" dirty="0">
              <a:solidFill>
                <a:schemeClr val="accent3">
                  <a:lumMod val="20000"/>
                  <a:lumOff val="80000"/>
                </a:schemeClr>
              </a:solidFill>
            </a:endParaRPr>
          </a:p>
        </p:txBody>
      </p:sp>
      <p:sp>
        <p:nvSpPr>
          <p:cNvPr id="15" name="Text Box 194"/>
          <p:cNvSpPr txBox="1">
            <a:spLocks noChangeArrowheads="1"/>
          </p:cNvSpPr>
          <p:nvPr/>
        </p:nvSpPr>
        <p:spPr bwMode="auto">
          <a:xfrm>
            <a:off x="16916400" y="7086600"/>
            <a:ext cx="14173200" cy="5782310"/>
          </a:xfrm>
          <a:prstGeom prst="rect">
            <a:avLst/>
          </a:prstGeom>
          <a:solidFill>
            <a:schemeClr val="bg1"/>
          </a:solidFill>
          <a:ln w="12700">
            <a:solidFill>
              <a:schemeClr val="accent1">
                <a:lumMod val="75000"/>
              </a:schemeClr>
            </a:solidFill>
          </a:ln>
          <a:effectLst/>
        </p:spPr>
        <p:txBody>
          <a:bodyPr lIns="182880" tIns="182880" rIns="182880" bIns="182880">
            <a:spAutoFit/>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algn="just"/>
            <a:r>
              <a:rPr lang="en-US" altLang="en-US" sz="3200" dirty="0">
                <a:latin typeface="+mj-lt"/>
              </a:rPr>
              <a:t>The performance of the suggested optimized architecture for a CNN was better compared to the performance of other architectures for a CNN and current state-of-the-art methods for classifying gastric cancer cases. From the experimental results obtained on the test dataset for classifying gastric cancer cases, the optimized model showed good results in terms of classification accuracy.</a:t>
            </a:r>
            <a:endParaRPr lang="en-US" altLang="en-US" sz="3200" dirty="0">
              <a:latin typeface="+mj-lt"/>
            </a:endParaRPr>
          </a:p>
          <a:p>
            <a:pPr algn="just"/>
            <a:endParaRPr lang="en-US" altLang="en-US" sz="3200" dirty="0">
              <a:latin typeface="+mj-lt"/>
            </a:endParaRPr>
          </a:p>
          <a:p>
            <a:pPr algn="just"/>
            <a:r>
              <a:rPr lang="en-US" altLang="en-US" sz="3200" dirty="0">
                <a:latin typeface="+mj-lt"/>
              </a:rPr>
              <a:t>Finally, the comparative analysis showed that, under identical conditions of training and testing, the proposed model performed better than baseline CNN architectures, such as standard CNN deep learning models. The improvements can be attributed to the optimized feature extraction capability and effective regularization strategies incorporated into the network architecture.</a:t>
            </a:r>
            <a:endParaRPr lang="en-US" altLang="en-US" sz="3200" dirty="0">
              <a:latin typeface="+mj-lt"/>
            </a:endParaRPr>
          </a:p>
        </p:txBody>
      </p:sp>
      <p:sp>
        <p:nvSpPr>
          <p:cNvPr id="33" name="Rectangle 32"/>
          <p:cNvSpPr/>
          <p:nvPr/>
        </p:nvSpPr>
        <p:spPr>
          <a:xfrm>
            <a:off x="1828800" y="14173200"/>
            <a:ext cx="14173200" cy="914400"/>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sz="6000" b="1" dirty="0">
                <a:solidFill>
                  <a:schemeClr val="accent3">
                    <a:lumMod val="20000"/>
                    <a:lumOff val="80000"/>
                  </a:schemeClr>
                </a:solidFill>
              </a:rPr>
              <a:t>Introduction</a:t>
            </a:r>
            <a:endParaRPr lang="en-US" sz="6000" b="1" dirty="0">
              <a:solidFill>
                <a:schemeClr val="accent3">
                  <a:lumMod val="20000"/>
                  <a:lumOff val="80000"/>
                </a:schemeClr>
              </a:solidFill>
            </a:endParaRPr>
          </a:p>
        </p:txBody>
      </p:sp>
      <p:sp>
        <p:nvSpPr>
          <p:cNvPr id="13" name="Text Box 192"/>
          <p:cNvSpPr txBox="1">
            <a:spLocks noChangeArrowheads="1"/>
          </p:cNvSpPr>
          <p:nvPr/>
        </p:nvSpPr>
        <p:spPr bwMode="auto">
          <a:xfrm>
            <a:off x="1637723" y="31178831"/>
            <a:ext cx="14173200" cy="4828540"/>
          </a:xfrm>
          <a:prstGeom prst="rect">
            <a:avLst/>
          </a:prstGeom>
          <a:solidFill>
            <a:schemeClr val="bg1"/>
          </a:solidFill>
          <a:ln w="12700">
            <a:solidFill>
              <a:schemeClr val="accent1">
                <a:lumMod val="75000"/>
              </a:schemeClr>
            </a:solidFill>
          </a:ln>
          <a:effectLst/>
        </p:spPr>
        <p:txBody>
          <a:bodyPr lIns="182880" tIns="182880" rIns="182880" bIns="182880">
            <a:spAutoFit/>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r>
              <a:rPr lang="en-AU" sz="3200" b="1" dirty="0">
                <a:latin typeface="+mj-lt"/>
              </a:rPr>
              <a:t>Methods</a:t>
            </a:r>
            <a:endParaRPr lang="en-AU" sz="3200" b="1" dirty="0">
              <a:latin typeface="+mj-lt"/>
            </a:endParaRPr>
          </a:p>
          <a:p>
            <a:pPr algn="just"/>
            <a:r>
              <a:rPr lang="en-US" altLang="en-US" sz="3200" dirty="0">
                <a:latin typeface="+mj-lt"/>
              </a:rPr>
              <a:t>The proposed gastric cancer classification approach employs an optimized convolutional neural network (CNN) architecture trained on annotated gastric medical images. The dataset was preprocessed by resizing all images to a uniform resolution, normalizing pixel intensity values, and enhancing image quality to improve feature visibility.</a:t>
            </a:r>
            <a:r>
              <a:rPr lang="en-AU" sz="3200" dirty="0">
                <a:latin typeface="+mj-lt"/>
              </a:rPr>
              <a:t> </a:t>
            </a:r>
            <a:endParaRPr lang="en-AU" sz="3200" dirty="0">
              <a:latin typeface="+mj-lt"/>
            </a:endParaRPr>
          </a:p>
          <a:p>
            <a:pPr algn="just"/>
            <a:r>
              <a:rPr lang="en-AU" sz="3400" b="1" dirty="0">
                <a:latin typeface="+mj-lt"/>
              </a:rPr>
              <a:t>Materials</a:t>
            </a:r>
            <a:endParaRPr lang="en-AU" sz="3400" b="1" dirty="0">
              <a:latin typeface="+mj-lt"/>
            </a:endParaRPr>
          </a:p>
          <a:p>
            <a:pPr algn="just"/>
            <a:r>
              <a:rPr lang="en-US" altLang="en-US" sz="3200" dirty="0">
                <a:latin typeface="+mj-lt"/>
              </a:rPr>
              <a:t>Dataset Description</a:t>
            </a:r>
            <a:r>
              <a:rPr lang="en-IN" altLang="en-US" sz="3200" dirty="0">
                <a:latin typeface="+mj-lt"/>
              </a:rPr>
              <a:t>, </a:t>
            </a:r>
            <a:r>
              <a:rPr lang="en-US" altLang="en-US" sz="3200" dirty="0">
                <a:latin typeface="+mj-lt"/>
              </a:rPr>
              <a:t>Data Preprocessing</a:t>
            </a:r>
            <a:r>
              <a:rPr lang="en-IN" altLang="en-US" sz="3200" dirty="0">
                <a:latin typeface="+mj-lt"/>
              </a:rPr>
              <a:t>, </a:t>
            </a:r>
            <a:r>
              <a:rPr lang="en-US" altLang="en-US" sz="3200" dirty="0">
                <a:latin typeface="+mj-lt"/>
              </a:rPr>
              <a:t>Optimized CNN Architecture</a:t>
            </a:r>
            <a:r>
              <a:rPr lang="en-IN" altLang="en-US" sz="3200" dirty="0">
                <a:latin typeface="+mj-lt"/>
              </a:rPr>
              <a:t>, </a:t>
            </a:r>
            <a:r>
              <a:rPr lang="en-US" altLang="en-US" sz="3200" dirty="0">
                <a:latin typeface="+mj-lt"/>
              </a:rPr>
              <a:t>Model Training</a:t>
            </a:r>
            <a:r>
              <a:rPr lang="en-IN" altLang="en-US" sz="3200" dirty="0">
                <a:latin typeface="+mj-lt"/>
              </a:rPr>
              <a:t>, </a:t>
            </a:r>
            <a:r>
              <a:rPr lang="en-US" altLang="en-US" sz="3200" dirty="0">
                <a:latin typeface="+mj-lt"/>
              </a:rPr>
              <a:t>Performance Evaluation Metrics</a:t>
            </a:r>
            <a:r>
              <a:rPr lang="en-IN" altLang="en-US" sz="3200" dirty="0">
                <a:latin typeface="+mj-lt"/>
              </a:rPr>
              <a:t>, </a:t>
            </a:r>
            <a:r>
              <a:rPr lang="en-US" altLang="en-US" sz="3200" dirty="0">
                <a:latin typeface="+mj-lt"/>
              </a:rPr>
              <a:t>Comparative Analysis</a:t>
            </a:r>
            <a:r>
              <a:rPr lang="en-IN" altLang="en-US" sz="3200" dirty="0">
                <a:latin typeface="+mj-lt"/>
              </a:rPr>
              <a:t>.</a:t>
            </a:r>
            <a:endParaRPr lang="en-IN" altLang="en-US" sz="3200" dirty="0">
              <a:latin typeface="+mj-lt"/>
            </a:endParaRPr>
          </a:p>
        </p:txBody>
      </p:sp>
      <p:sp>
        <p:nvSpPr>
          <p:cNvPr id="34" name="Rectangle 33"/>
          <p:cNvSpPr/>
          <p:nvPr/>
        </p:nvSpPr>
        <p:spPr>
          <a:xfrm>
            <a:off x="1637723" y="30265589"/>
            <a:ext cx="14173200" cy="914400"/>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sz="6000" b="1" dirty="0">
                <a:solidFill>
                  <a:schemeClr val="accent3">
                    <a:lumMod val="20000"/>
                    <a:lumOff val="80000"/>
                  </a:schemeClr>
                </a:solidFill>
              </a:rPr>
              <a:t>Methods and Materials</a:t>
            </a:r>
            <a:endParaRPr lang="en-US" sz="6000" b="1" dirty="0">
              <a:solidFill>
                <a:schemeClr val="accent3">
                  <a:lumMod val="20000"/>
                  <a:lumOff val="80000"/>
                </a:schemeClr>
              </a:solidFill>
            </a:endParaRPr>
          </a:p>
        </p:txBody>
      </p:sp>
      <p:sp>
        <p:nvSpPr>
          <p:cNvPr id="12" name="Text Box 191"/>
          <p:cNvSpPr txBox="1">
            <a:spLocks noChangeArrowheads="1"/>
          </p:cNvSpPr>
          <p:nvPr/>
        </p:nvSpPr>
        <p:spPr bwMode="auto">
          <a:xfrm>
            <a:off x="16992600" y="22707600"/>
            <a:ext cx="14097000" cy="6232525"/>
          </a:xfrm>
          <a:prstGeom prst="rect">
            <a:avLst/>
          </a:prstGeom>
          <a:solidFill>
            <a:schemeClr val="bg1"/>
          </a:solidFill>
          <a:ln w="12700">
            <a:solidFill>
              <a:schemeClr val="accent1">
                <a:lumMod val="75000"/>
              </a:schemeClr>
            </a:solidFill>
          </a:ln>
          <a:effectLst/>
        </p:spPr>
        <p:txBody>
          <a:bodyPr wrap="square" lIns="182880" tIns="182880" rIns="182880" bIns="182880">
            <a:spAutoFit/>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algn="just">
              <a:lnSpc>
                <a:spcPct val="115000"/>
              </a:lnSpc>
              <a:spcAft>
                <a:spcPts val="800"/>
              </a:spcAft>
            </a:pPr>
            <a:r>
              <a:rPr lang="en-US" altLang="en-US" sz="3200" kern="100" dirty="0">
                <a:effectLst/>
                <a:latin typeface="Calibri" panose="020F0502020204030204" pitchFamily="34" charset="0"/>
                <a:ea typeface="Calibri" panose="020F0502020204030204" pitchFamily="34" charset="0"/>
                <a:cs typeface="Calibri" panose="020F0502020204030204" pitchFamily="34" charset="0"/>
              </a:rPr>
              <a:t>Based on the experimental results provided in this study, it can be validated that the optimized CNN model has a potential to enhance the classification performance of gastric cancers using deep learning models in comparison to other models traditionally used in practice.</a:t>
            </a:r>
            <a:r>
              <a:rPr lang="en-IN" altLang="en-US" sz="3200" kern="100" dirty="0">
                <a:effectLst/>
                <a:latin typeface="Calibri" panose="020F0502020204030204" pitchFamily="34" charset="0"/>
                <a:ea typeface="Calibri" panose="020F0502020204030204" pitchFamily="34" charset="0"/>
                <a:cs typeface="Calibri" panose="020F0502020204030204" pitchFamily="34" charset="0"/>
              </a:rPr>
              <a:t> </a:t>
            </a:r>
            <a:endParaRPr lang="en-IN" altLang="en-US" sz="3200" kern="100" dirty="0">
              <a:effectLst/>
              <a:latin typeface="Calibri" panose="020F0502020204030204" pitchFamily="34" charset="0"/>
              <a:ea typeface="Calibri" panose="020F0502020204030204" pitchFamily="34" charset="0"/>
              <a:cs typeface="Calibri" panose="020F0502020204030204" pitchFamily="34" charset="0"/>
            </a:endParaRPr>
          </a:p>
          <a:p>
            <a:pPr algn="just">
              <a:lnSpc>
                <a:spcPct val="115000"/>
              </a:lnSpc>
              <a:spcAft>
                <a:spcPts val="800"/>
              </a:spcAft>
            </a:pPr>
            <a:r>
              <a:rPr lang="en-US" altLang="en-US" sz="3200" kern="100" dirty="0">
                <a:effectLst/>
                <a:latin typeface="Calibri" panose="020F0502020204030204" pitchFamily="34" charset="0"/>
                <a:ea typeface="Calibri" panose="020F0502020204030204" pitchFamily="34" charset="0"/>
                <a:cs typeface="Calibri" panose="020F0502020204030204" pitchFamily="34" charset="0"/>
              </a:rPr>
              <a:t>The remarkable performance of this proposed model can be depicted through various optimized architecture strategies implemented in this study. </a:t>
            </a:r>
            <a:endParaRPr lang="en-US" altLang="en-US" sz="3200" kern="100" dirty="0">
              <a:effectLst/>
              <a:latin typeface="Calibri" panose="020F0502020204030204" pitchFamily="34" charset="0"/>
              <a:ea typeface="Calibri" panose="020F0502020204030204" pitchFamily="34" charset="0"/>
              <a:cs typeface="Calibri" panose="020F0502020204030204" pitchFamily="34" charset="0"/>
            </a:endParaRPr>
          </a:p>
          <a:p>
            <a:pPr algn="just">
              <a:lnSpc>
                <a:spcPct val="115000"/>
              </a:lnSpc>
              <a:spcAft>
                <a:spcPts val="800"/>
              </a:spcAft>
            </a:pPr>
            <a:r>
              <a:rPr lang="en-US" altLang="en-US" sz="3200" kern="100" dirty="0">
                <a:effectLst/>
                <a:latin typeface="Calibri" panose="020F0502020204030204" pitchFamily="34" charset="0"/>
                <a:ea typeface="Calibri" panose="020F0502020204030204" pitchFamily="34" charset="0"/>
                <a:cs typeface="Gautami" panose="020B0502040204020203" pitchFamily="34" charset="0"/>
              </a:rPr>
              <a:t>Compared with the current CNN architectures, the proposed model has generated improved performance within the same experimental conditions. These findings indicate that optimization of the model with regard to gastric images has played a crucial role.</a:t>
            </a:r>
            <a:endParaRPr lang="en-US" altLang="en-US" sz="3200" kern="100" dirty="0">
              <a:effectLst/>
              <a:latin typeface="Calibri" panose="020F0502020204030204" pitchFamily="34" charset="0"/>
              <a:ea typeface="Calibri" panose="020F0502020204030204" pitchFamily="34" charset="0"/>
              <a:cs typeface="Gautami" panose="020B0502040204020203" pitchFamily="34" charset="0"/>
            </a:endParaRPr>
          </a:p>
        </p:txBody>
      </p:sp>
      <p:sp>
        <p:nvSpPr>
          <p:cNvPr id="35" name="Rectangle 34"/>
          <p:cNvSpPr/>
          <p:nvPr/>
        </p:nvSpPr>
        <p:spPr>
          <a:xfrm>
            <a:off x="16922750" y="21793438"/>
            <a:ext cx="14173200" cy="914400"/>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0" b="1" dirty="0">
                <a:solidFill>
                  <a:schemeClr val="accent3">
                    <a:lumMod val="20000"/>
                    <a:lumOff val="80000"/>
                  </a:schemeClr>
                </a:solidFill>
              </a:rPr>
              <a:t>Discussion</a:t>
            </a:r>
            <a:endParaRPr lang="en-US" sz="6000" b="1" dirty="0">
              <a:solidFill>
                <a:schemeClr val="accent3">
                  <a:lumMod val="20000"/>
                  <a:lumOff val="80000"/>
                </a:schemeClr>
              </a:solidFill>
            </a:endParaRPr>
          </a:p>
        </p:txBody>
      </p:sp>
      <p:sp>
        <p:nvSpPr>
          <p:cNvPr id="14" name="Text Box 193"/>
          <p:cNvSpPr txBox="1">
            <a:spLocks noChangeArrowheads="1"/>
          </p:cNvSpPr>
          <p:nvPr/>
        </p:nvSpPr>
        <p:spPr bwMode="auto">
          <a:xfrm>
            <a:off x="16916400" y="34501455"/>
            <a:ext cx="14173200" cy="3320415"/>
          </a:xfrm>
          <a:prstGeom prst="rect">
            <a:avLst/>
          </a:prstGeom>
          <a:solidFill>
            <a:schemeClr val="bg1"/>
          </a:solidFill>
          <a:ln w="12700">
            <a:solidFill>
              <a:schemeClr val="accent1">
                <a:lumMod val="75000"/>
              </a:schemeClr>
            </a:solidFill>
          </a:ln>
          <a:effectLst/>
        </p:spPr>
        <p:txBody>
          <a:bodyPr lIns="182880" tIns="182880" rIns="182880" bIns="182880">
            <a:spAutoFit/>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algn="just"/>
            <a:r>
              <a:rPr lang="en-US" altLang="en-US" sz="3200" dirty="0">
                <a:latin typeface="Calibri" panose="020F0502020204030204" pitchFamily="34" charset="0"/>
              </a:rPr>
              <a:t>This work presented an optimized CNN architecture for the classification of gastric cancer, which promises further accuracy, efficacy, and robustness as compared to existing models. It can be observed from the results presented that the approach holds promises regarding the feature extraction abilities of the designed model. There exists great promise regarding the use of the presented model for the diagnosis of gastric cancer.</a:t>
            </a:r>
            <a:endParaRPr lang="en-US" altLang="en-US" sz="3200" dirty="0">
              <a:latin typeface="Calibri" panose="020F0502020204030204" pitchFamily="34" charset="0"/>
            </a:endParaRPr>
          </a:p>
        </p:txBody>
      </p:sp>
      <p:sp>
        <p:nvSpPr>
          <p:cNvPr id="36" name="Rectangle 35"/>
          <p:cNvSpPr/>
          <p:nvPr/>
        </p:nvSpPr>
        <p:spPr>
          <a:xfrm>
            <a:off x="16916400" y="33585912"/>
            <a:ext cx="14173200" cy="914400"/>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0" b="1" dirty="0">
                <a:solidFill>
                  <a:schemeClr val="accent3">
                    <a:lumMod val="20000"/>
                    <a:lumOff val="80000"/>
                  </a:schemeClr>
                </a:solidFill>
              </a:rPr>
              <a:t>Conclusions</a:t>
            </a:r>
            <a:endParaRPr lang="en-US" sz="6000" b="1" dirty="0">
              <a:solidFill>
                <a:schemeClr val="accent3">
                  <a:lumMod val="20000"/>
                  <a:lumOff val="80000"/>
                </a:schemeClr>
              </a:solidFill>
            </a:endParaRPr>
          </a:p>
        </p:txBody>
      </p:sp>
      <p:sp>
        <p:nvSpPr>
          <p:cNvPr id="11" name="Text Box 190"/>
          <p:cNvSpPr txBox="1">
            <a:spLocks noChangeArrowheads="1"/>
          </p:cNvSpPr>
          <p:nvPr/>
        </p:nvSpPr>
        <p:spPr bwMode="auto">
          <a:xfrm>
            <a:off x="1822207" y="15064594"/>
            <a:ext cx="14173200" cy="10214610"/>
          </a:xfrm>
          <a:prstGeom prst="rect">
            <a:avLst/>
          </a:prstGeom>
          <a:solidFill>
            <a:schemeClr val="bg1"/>
          </a:solidFill>
          <a:ln w="12700">
            <a:solidFill>
              <a:schemeClr val="accent1">
                <a:lumMod val="75000"/>
              </a:schemeClr>
            </a:solidFill>
          </a:ln>
          <a:effectLst/>
        </p:spPr>
        <p:txBody>
          <a:bodyPr lIns="182880" tIns="182880" rIns="182880" bIns="182880">
            <a:spAutoFit/>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algn="just" eaLnBrk="1" hangingPunct="1"/>
            <a:r>
              <a:rPr lang="en-US" altLang="en-US" sz="3200" dirty="0">
                <a:latin typeface="+mj-lt"/>
              </a:rPr>
              <a:t>Gastric cancer is one of the most prevalent and deadly malignancies worldwide, accounting for a significant proportion of cancer-related morbidity and mortality. Despite advances in clinical diagnosis and treatment, the prognosis of gastric cancer patients remains poor, primarily due to late-stage detection. </a:t>
            </a:r>
            <a:endParaRPr lang="en-US" altLang="en-US" sz="3200" dirty="0">
              <a:latin typeface="+mj-lt"/>
            </a:endParaRPr>
          </a:p>
          <a:p>
            <a:pPr algn="just" eaLnBrk="1" hangingPunct="1"/>
            <a:endParaRPr lang="en-US" altLang="en-US" sz="3200" dirty="0">
              <a:latin typeface="+mj-lt"/>
            </a:endParaRPr>
          </a:p>
          <a:p>
            <a:pPr algn="just" eaLnBrk="1" hangingPunct="1"/>
            <a:r>
              <a:rPr lang="en-US" altLang="en-US" sz="3200" dirty="0">
                <a:latin typeface="+mj-lt"/>
              </a:rPr>
              <a:t>In the last few years, artificial intelligence and deep learning methods have been identified as effective tools to carry out automated image analysis in medicine. Among these methods and tools, convolutional neural networks have attracted substantial interest in image classification problems.</a:t>
            </a:r>
            <a:endParaRPr lang="en-US" altLang="en-US" sz="3200" dirty="0">
              <a:latin typeface="+mj-lt"/>
            </a:endParaRPr>
          </a:p>
          <a:p>
            <a:pPr algn="just" eaLnBrk="1" hangingPunct="1"/>
            <a:endParaRPr lang="en-US" altLang="en-US" sz="3200" dirty="0">
              <a:latin typeface="+mj-lt"/>
            </a:endParaRPr>
          </a:p>
          <a:p>
            <a:pPr algn="just" eaLnBrk="1" hangingPunct="1"/>
            <a:r>
              <a:rPr lang="en-US" altLang="en-US" sz="3200" dirty="0">
                <a:latin typeface="+mj-lt"/>
              </a:rPr>
              <a:t>In order to address these challenges, research on the optimization and customization of various CNN models to achieve a suitable balance between efficiency and performance is ongoing. Architectural optimization techniques have also been employed to boost the efficiency, robustness, and discriminability of the models.</a:t>
            </a:r>
            <a:endParaRPr lang="en-US" altLang="en-US" sz="3200" dirty="0">
              <a:latin typeface="+mj-lt"/>
            </a:endParaRPr>
          </a:p>
          <a:p>
            <a:pPr algn="just" eaLnBrk="1" hangingPunct="1"/>
            <a:endParaRPr lang="en-US" altLang="en-US" sz="3200" dirty="0">
              <a:latin typeface="+mj-lt"/>
            </a:endParaRPr>
          </a:p>
          <a:p>
            <a:pPr algn="just" eaLnBrk="1" hangingPunct="1"/>
            <a:r>
              <a:rPr lang="en-US" altLang="en-US" sz="3200" dirty="0">
                <a:latin typeface="+mj-lt"/>
              </a:rPr>
              <a:t>Additionally, in this manuscript, an enhanced framework for the classification of gastric cancer is provided based on an innovative design for a CNN framework that effectively extracts important feature information from medical images concerning gastric patients.</a:t>
            </a:r>
            <a:endParaRPr lang="en-US" altLang="en-US" sz="3200" dirty="0">
              <a:latin typeface="+mj-lt"/>
            </a:endParaRPr>
          </a:p>
        </p:txBody>
      </p:sp>
      <p:sp>
        <p:nvSpPr>
          <p:cNvPr id="45" name="Rectangle 44"/>
          <p:cNvSpPr/>
          <p:nvPr/>
        </p:nvSpPr>
        <p:spPr>
          <a:xfrm>
            <a:off x="16916400" y="6172200"/>
            <a:ext cx="14173200" cy="914400"/>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0" b="1" dirty="0">
                <a:solidFill>
                  <a:schemeClr val="accent3">
                    <a:lumMod val="20000"/>
                    <a:lumOff val="80000"/>
                  </a:schemeClr>
                </a:solidFill>
              </a:rPr>
              <a:t>Results</a:t>
            </a:r>
            <a:endParaRPr lang="en-US" sz="6000" b="1" dirty="0">
              <a:solidFill>
                <a:schemeClr val="accent3">
                  <a:lumMod val="20000"/>
                  <a:lumOff val="80000"/>
                </a:schemeClr>
              </a:solidFill>
            </a:endParaRPr>
          </a:p>
        </p:txBody>
      </p:sp>
      <p:sp>
        <p:nvSpPr>
          <p:cNvPr id="53" name="Text Box 180"/>
          <p:cNvSpPr txBox="1">
            <a:spLocks noChangeArrowheads="1"/>
          </p:cNvSpPr>
          <p:nvPr/>
        </p:nvSpPr>
        <p:spPr bwMode="auto">
          <a:xfrm>
            <a:off x="6374085" y="25642558"/>
            <a:ext cx="406463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4389755" eaLnBrk="0" hangingPunct="0">
              <a:defRPr sz="2200">
                <a:solidFill>
                  <a:schemeClr val="tx1"/>
                </a:solidFill>
                <a:latin typeface="Arial" panose="020B0604020202020204" pitchFamily="34" charset="0"/>
              </a:defRPr>
            </a:lvl1pPr>
            <a:lvl2pPr marL="742950" indent="-285750" defTabSz="4389755" eaLnBrk="0" hangingPunct="0">
              <a:defRPr sz="2200">
                <a:solidFill>
                  <a:schemeClr val="tx1"/>
                </a:solidFill>
                <a:latin typeface="Arial" panose="020B0604020202020204" pitchFamily="34" charset="0"/>
              </a:defRPr>
            </a:lvl2pPr>
            <a:lvl3pPr marL="1143000" indent="-228600" defTabSz="4389755" eaLnBrk="0" hangingPunct="0">
              <a:defRPr sz="2200">
                <a:solidFill>
                  <a:schemeClr val="tx1"/>
                </a:solidFill>
                <a:latin typeface="Arial" panose="020B0604020202020204" pitchFamily="34" charset="0"/>
              </a:defRPr>
            </a:lvl3pPr>
            <a:lvl4pPr marL="1600200" indent="-228600" defTabSz="4389755" eaLnBrk="0" hangingPunct="0">
              <a:defRPr sz="2200">
                <a:solidFill>
                  <a:schemeClr val="tx1"/>
                </a:solidFill>
                <a:latin typeface="Arial" panose="020B0604020202020204" pitchFamily="34" charset="0"/>
              </a:defRPr>
            </a:lvl4pPr>
            <a:lvl5pPr marL="2057400" indent="-228600" defTabSz="4389755" eaLnBrk="0" hangingPunct="0">
              <a:defRPr sz="2200">
                <a:solidFill>
                  <a:schemeClr val="tx1"/>
                </a:solidFill>
                <a:latin typeface="Arial" panose="020B0604020202020204" pitchFamily="34" charset="0"/>
              </a:defRPr>
            </a:lvl5pPr>
            <a:lvl6pPr marL="2514600" indent="-228600" defTabSz="4389755" eaLnBrk="0" fontAlgn="base" hangingPunct="0">
              <a:spcBef>
                <a:spcPct val="0"/>
              </a:spcBef>
              <a:spcAft>
                <a:spcPct val="0"/>
              </a:spcAft>
              <a:defRPr sz="2200">
                <a:solidFill>
                  <a:schemeClr val="tx1"/>
                </a:solidFill>
                <a:latin typeface="Arial" panose="020B0604020202020204" pitchFamily="34" charset="0"/>
              </a:defRPr>
            </a:lvl6pPr>
            <a:lvl7pPr marL="2971800" indent="-228600" defTabSz="4389755" eaLnBrk="0" fontAlgn="base" hangingPunct="0">
              <a:spcBef>
                <a:spcPct val="0"/>
              </a:spcBef>
              <a:spcAft>
                <a:spcPct val="0"/>
              </a:spcAft>
              <a:defRPr sz="2200">
                <a:solidFill>
                  <a:schemeClr val="tx1"/>
                </a:solidFill>
                <a:latin typeface="Arial" panose="020B0604020202020204" pitchFamily="34" charset="0"/>
              </a:defRPr>
            </a:lvl7pPr>
            <a:lvl8pPr marL="3429000" indent="-228600" defTabSz="4389755" eaLnBrk="0" fontAlgn="base" hangingPunct="0">
              <a:spcBef>
                <a:spcPct val="0"/>
              </a:spcBef>
              <a:spcAft>
                <a:spcPct val="0"/>
              </a:spcAft>
              <a:defRPr sz="2200">
                <a:solidFill>
                  <a:schemeClr val="tx1"/>
                </a:solidFill>
                <a:latin typeface="Arial" panose="020B0604020202020204" pitchFamily="34" charset="0"/>
              </a:defRPr>
            </a:lvl8pPr>
            <a:lvl9pPr marL="3886200" indent="-228600" defTabSz="4389755" eaLnBrk="0" fontAlgn="base" hangingPunct="0">
              <a:spcBef>
                <a:spcPct val="0"/>
              </a:spcBef>
              <a:spcAft>
                <a:spcPct val="0"/>
              </a:spcAft>
              <a:defRPr sz="2200">
                <a:solidFill>
                  <a:schemeClr val="tx1"/>
                </a:solidFill>
                <a:latin typeface="Arial" panose="020B0604020202020204" pitchFamily="34" charset="0"/>
              </a:defRPr>
            </a:lvl9pPr>
          </a:lstStyle>
          <a:p>
            <a:pPr algn="ctr" eaLnBrk="1" hangingPunct="1"/>
            <a:r>
              <a:rPr lang="en-US" sz="2400" b="1" dirty="0">
                <a:latin typeface="Calibri" panose="020F0502020204030204" pitchFamily="34" charset="0"/>
              </a:rPr>
              <a:t>Fig 1. </a:t>
            </a:r>
            <a:r>
              <a:rPr lang="en-IN" altLang="en-US" sz="2400" b="1" dirty="0">
                <a:latin typeface="Calibri" panose="020F0502020204030204" pitchFamily="34" charset="0"/>
              </a:rPr>
              <a:t>Stages of Gastric Cancer. </a:t>
            </a:r>
            <a:endParaRPr lang="en-IN" altLang="en-US" sz="2400" b="1" dirty="0">
              <a:latin typeface="Calibri" panose="020F0502020204030204" pitchFamily="34" charset="0"/>
            </a:endParaRPr>
          </a:p>
        </p:txBody>
      </p:sp>
      <p:sp>
        <p:nvSpPr>
          <p:cNvPr id="30" name="Rectangle 265"/>
          <p:cNvSpPr>
            <a:spLocks noChangeAspect="1" noChangeArrowheads="1"/>
          </p:cNvSpPr>
          <p:nvPr/>
        </p:nvSpPr>
        <p:spPr bwMode="auto">
          <a:xfrm>
            <a:off x="914401" y="1554480"/>
            <a:ext cx="2425816" cy="2194560"/>
          </a:xfrm>
          <a:prstGeom prst="rect">
            <a:avLst/>
          </a:prstGeom>
          <a:blipFill dpi="0" rotWithShape="1">
            <a:blip r:embed="rId1">
              <a:lum bright="70000" contrast="-70000"/>
            </a:blip>
            <a:srcRect/>
            <a:stretch>
              <a:fillRect r="-79"/>
            </a:stretch>
          </a:bli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83814" tIns="41907" rIns="83814" bIns="41907" anchor="ctr"/>
          <a:lstStyle/>
          <a:p>
            <a:pPr algn="ctr" defTabSz="4022725"/>
            <a:r>
              <a:rPr lang="en-US" sz="2000" b="1" dirty="0">
                <a:latin typeface="Calibri" panose="020F0502020204030204" pitchFamily="34" charset="0"/>
              </a:rPr>
              <a:t>REPLACE THIS BOX WITH YOUR ORGANIZATION’S</a:t>
            </a:r>
            <a:endParaRPr lang="en-US" sz="2000" b="1" dirty="0">
              <a:latin typeface="Calibri" panose="020F0502020204030204" pitchFamily="34" charset="0"/>
            </a:endParaRPr>
          </a:p>
          <a:p>
            <a:pPr algn="ctr" defTabSz="4022725"/>
            <a:r>
              <a:rPr lang="en-US" sz="2000" b="1" dirty="0">
                <a:latin typeface="Calibri" panose="020F0502020204030204" pitchFamily="34" charset="0"/>
              </a:rPr>
              <a:t>HIGH RESOLUTION LOGO</a:t>
            </a:r>
            <a:endParaRPr lang="en-US" sz="2000" b="1" dirty="0">
              <a:latin typeface="Calibri" panose="020F0502020204030204" pitchFamily="34" charset="0"/>
            </a:endParaRPr>
          </a:p>
        </p:txBody>
      </p:sp>
      <p:sp>
        <p:nvSpPr>
          <p:cNvPr id="40" name="Text Box 180"/>
          <p:cNvSpPr txBox="1">
            <a:spLocks noChangeArrowheads="1"/>
          </p:cNvSpPr>
          <p:nvPr/>
        </p:nvSpPr>
        <p:spPr bwMode="auto">
          <a:xfrm>
            <a:off x="17373600" y="32899219"/>
            <a:ext cx="3853180"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4389755" eaLnBrk="0" hangingPunct="0">
              <a:defRPr sz="2200">
                <a:solidFill>
                  <a:schemeClr val="tx1"/>
                </a:solidFill>
                <a:latin typeface="Arial" panose="020B0604020202020204" pitchFamily="34" charset="0"/>
              </a:defRPr>
            </a:lvl1pPr>
            <a:lvl2pPr marL="742950" indent="-285750" defTabSz="4389755" eaLnBrk="0" hangingPunct="0">
              <a:defRPr sz="2200">
                <a:solidFill>
                  <a:schemeClr val="tx1"/>
                </a:solidFill>
                <a:latin typeface="Arial" panose="020B0604020202020204" pitchFamily="34" charset="0"/>
              </a:defRPr>
            </a:lvl2pPr>
            <a:lvl3pPr marL="1143000" indent="-228600" defTabSz="4389755" eaLnBrk="0" hangingPunct="0">
              <a:defRPr sz="2200">
                <a:solidFill>
                  <a:schemeClr val="tx1"/>
                </a:solidFill>
                <a:latin typeface="Arial" panose="020B0604020202020204" pitchFamily="34" charset="0"/>
              </a:defRPr>
            </a:lvl3pPr>
            <a:lvl4pPr marL="1600200" indent="-228600" defTabSz="4389755" eaLnBrk="0" hangingPunct="0">
              <a:defRPr sz="2200">
                <a:solidFill>
                  <a:schemeClr val="tx1"/>
                </a:solidFill>
                <a:latin typeface="Arial" panose="020B0604020202020204" pitchFamily="34" charset="0"/>
              </a:defRPr>
            </a:lvl4pPr>
            <a:lvl5pPr marL="2057400" indent="-228600" defTabSz="4389755" eaLnBrk="0" hangingPunct="0">
              <a:defRPr sz="2200">
                <a:solidFill>
                  <a:schemeClr val="tx1"/>
                </a:solidFill>
                <a:latin typeface="Arial" panose="020B0604020202020204" pitchFamily="34" charset="0"/>
              </a:defRPr>
            </a:lvl5pPr>
            <a:lvl6pPr marL="2514600" indent="-228600" defTabSz="4389755" eaLnBrk="0" fontAlgn="base" hangingPunct="0">
              <a:spcBef>
                <a:spcPct val="0"/>
              </a:spcBef>
              <a:spcAft>
                <a:spcPct val="0"/>
              </a:spcAft>
              <a:defRPr sz="2200">
                <a:solidFill>
                  <a:schemeClr val="tx1"/>
                </a:solidFill>
                <a:latin typeface="Arial" panose="020B0604020202020204" pitchFamily="34" charset="0"/>
              </a:defRPr>
            </a:lvl6pPr>
            <a:lvl7pPr marL="2971800" indent="-228600" defTabSz="4389755" eaLnBrk="0" fontAlgn="base" hangingPunct="0">
              <a:spcBef>
                <a:spcPct val="0"/>
              </a:spcBef>
              <a:spcAft>
                <a:spcPct val="0"/>
              </a:spcAft>
              <a:defRPr sz="2200">
                <a:solidFill>
                  <a:schemeClr val="tx1"/>
                </a:solidFill>
                <a:latin typeface="Arial" panose="020B0604020202020204" pitchFamily="34" charset="0"/>
              </a:defRPr>
            </a:lvl7pPr>
            <a:lvl8pPr marL="3429000" indent="-228600" defTabSz="4389755" eaLnBrk="0" fontAlgn="base" hangingPunct="0">
              <a:spcBef>
                <a:spcPct val="0"/>
              </a:spcBef>
              <a:spcAft>
                <a:spcPct val="0"/>
              </a:spcAft>
              <a:defRPr sz="2200">
                <a:solidFill>
                  <a:schemeClr val="tx1"/>
                </a:solidFill>
                <a:latin typeface="Arial" panose="020B0604020202020204" pitchFamily="34" charset="0"/>
              </a:defRPr>
            </a:lvl8pPr>
            <a:lvl9pPr marL="3886200" indent="-228600" defTabSz="4389755"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r>
              <a:rPr lang="en-US" sz="2000" b="1" dirty="0">
                <a:latin typeface="Calibri" panose="020F0502020204030204" pitchFamily="34" charset="0"/>
              </a:rPr>
              <a:t>Fig 3.</a:t>
            </a:r>
            <a:r>
              <a:rPr lang="en-US" sz="2000" dirty="0">
                <a:latin typeface="Calibri" panose="020F0502020204030204" pitchFamily="34" charset="0"/>
              </a:rPr>
              <a:t> </a:t>
            </a:r>
            <a:r>
              <a:rPr lang="en-IN" altLang="en-US" sz="2000" dirty="0">
                <a:latin typeface="Calibri" panose="020F0502020204030204" pitchFamily="34" charset="0"/>
              </a:rPr>
              <a:t>Cancer Cells of Gastric Cancer</a:t>
            </a:r>
            <a:endParaRPr lang="en-IN" altLang="en-US" sz="2000" dirty="0">
              <a:latin typeface="Calibri" panose="020F0502020204030204" pitchFamily="34" charset="0"/>
            </a:endParaRPr>
          </a:p>
        </p:txBody>
      </p:sp>
      <p:sp>
        <p:nvSpPr>
          <p:cNvPr id="41" name="Text Box 181"/>
          <p:cNvSpPr txBox="1">
            <a:spLocks noChangeArrowheads="1"/>
          </p:cNvSpPr>
          <p:nvPr/>
        </p:nvSpPr>
        <p:spPr bwMode="auto">
          <a:xfrm>
            <a:off x="24460200" y="32939355"/>
            <a:ext cx="4817110"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4389755" eaLnBrk="0" hangingPunct="0">
              <a:defRPr sz="2200">
                <a:solidFill>
                  <a:schemeClr val="tx1"/>
                </a:solidFill>
                <a:latin typeface="Arial" panose="020B0604020202020204" pitchFamily="34" charset="0"/>
              </a:defRPr>
            </a:lvl1pPr>
            <a:lvl2pPr marL="742950" indent="-285750" defTabSz="4389755" eaLnBrk="0" hangingPunct="0">
              <a:defRPr sz="2200">
                <a:solidFill>
                  <a:schemeClr val="tx1"/>
                </a:solidFill>
                <a:latin typeface="Arial" panose="020B0604020202020204" pitchFamily="34" charset="0"/>
              </a:defRPr>
            </a:lvl2pPr>
            <a:lvl3pPr marL="1143000" indent="-228600" defTabSz="4389755" eaLnBrk="0" hangingPunct="0">
              <a:defRPr sz="2200">
                <a:solidFill>
                  <a:schemeClr val="tx1"/>
                </a:solidFill>
                <a:latin typeface="Arial" panose="020B0604020202020204" pitchFamily="34" charset="0"/>
              </a:defRPr>
            </a:lvl3pPr>
            <a:lvl4pPr marL="1600200" indent="-228600" defTabSz="4389755" eaLnBrk="0" hangingPunct="0">
              <a:defRPr sz="2200">
                <a:solidFill>
                  <a:schemeClr val="tx1"/>
                </a:solidFill>
                <a:latin typeface="Arial" panose="020B0604020202020204" pitchFamily="34" charset="0"/>
              </a:defRPr>
            </a:lvl4pPr>
            <a:lvl5pPr marL="2057400" indent="-228600" defTabSz="4389755" eaLnBrk="0" hangingPunct="0">
              <a:defRPr sz="2200">
                <a:solidFill>
                  <a:schemeClr val="tx1"/>
                </a:solidFill>
                <a:latin typeface="Arial" panose="020B0604020202020204" pitchFamily="34" charset="0"/>
              </a:defRPr>
            </a:lvl5pPr>
            <a:lvl6pPr marL="2514600" indent="-228600" defTabSz="4389755" eaLnBrk="0" fontAlgn="base" hangingPunct="0">
              <a:spcBef>
                <a:spcPct val="0"/>
              </a:spcBef>
              <a:spcAft>
                <a:spcPct val="0"/>
              </a:spcAft>
              <a:defRPr sz="2200">
                <a:solidFill>
                  <a:schemeClr val="tx1"/>
                </a:solidFill>
                <a:latin typeface="Arial" panose="020B0604020202020204" pitchFamily="34" charset="0"/>
              </a:defRPr>
            </a:lvl6pPr>
            <a:lvl7pPr marL="2971800" indent="-228600" defTabSz="4389755" eaLnBrk="0" fontAlgn="base" hangingPunct="0">
              <a:spcBef>
                <a:spcPct val="0"/>
              </a:spcBef>
              <a:spcAft>
                <a:spcPct val="0"/>
              </a:spcAft>
              <a:defRPr sz="2200">
                <a:solidFill>
                  <a:schemeClr val="tx1"/>
                </a:solidFill>
                <a:latin typeface="Arial" panose="020B0604020202020204" pitchFamily="34" charset="0"/>
              </a:defRPr>
            </a:lvl7pPr>
            <a:lvl8pPr marL="3429000" indent="-228600" defTabSz="4389755" eaLnBrk="0" fontAlgn="base" hangingPunct="0">
              <a:spcBef>
                <a:spcPct val="0"/>
              </a:spcBef>
              <a:spcAft>
                <a:spcPct val="0"/>
              </a:spcAft>
              <a:defRPr sz="2200">
                <a:solidFill>
                  <a:schemeClr val="tx1"/>
                </a:solidFill>
                <a:latin typeface="Arial" panose="020B0604020202020204" pitchFamily="34" charset="0"/>
              </a:defRPr>
            </a:lvl8pPr>
            <a:lvl9pPr marL="3886200" indent="-228600" defTabSz="4389755"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r>
              <a:rPr lang="en-US" sz="2000" b="1" dirty="0">
                <a:latin typeface="Calibri" panose="020F0502020204030204" pitchFamily="34" charset="0"/>
              </a:rPr>
              <a:t>Fig 4.</a:t>
            </a:r>
            <a:r>
              <a:rPr lang="en-US" sz="2000" dirty="0">
                <a:latin typeface="Calibri" panose="020F0502020204030204" pitchFamily="34" charset="0"/>
              </a:rPr>
              <a:t> </a:t>
            </a:r>
            <a:r>
              <a:rPr lang="en-IN" altLang="en-US" sz="2000" dirty="0">
                <a:latin typeface="Calibri" panose="020F0502020204030204" pitchFamily="34" charset="0"/>
              </a:rPr>
              <a:t>Architecture diagram of Gastric Cancer.</a:t>
            </a:r>
            <a:endParaRPr lang="en-IN" altLang="en-US" sz="2000" dirty="0">
              <a:latin typeface="Calibri" panose="020F0502020204030204" pitchFamily="34" charset="0"/>
            </a:endParaRPr>
          </a:p>
        </p:txBody>
      </p:sp>
      <p:sp>
        <p:nvSpPr>
          <p:cNvPr id="22" name="AutoShape 8" descr="Output image"/>
          <p:cNvSpPr>
            <a:spLocks noChangeAspect="1" noChangeArrowheads="1"/>
          </p:cNvSpPr>
          <p:nvPr/>
        </p:nvSpPr>
        <p:spPr bwMode="auto">
          <a:xfrm>
            <a:off x="16306800" y="21793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23" name="AutoShape 10" descr="Output image"/>
          <p:cNvSpPr>
            <a:spLocks noChangeAspect="1" noChangeArrowheads="1"/>
          </p:cNvSpPr>
          <p:nvPr/>
        </p:nvSpPr>
        <p:spPr bwMode="auto">
          <a:xfrm>
            <a:off x="16909806" y="16319897"/>
            <a:ext cx="14179793" cy="451318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6" name="Text Box 180"/>
          <p:cNvSpPr txBox="1">
            <a:spLocks noChangeArrowheads="1"/>
          </p:cNvSpPr>
          <p:nvPr/>
        </p:nvSpPr>
        <p:spPr bwMode="auto">
          <a:xfrm>
            <a:off x="19964616" y="13096842"/>
            <a:ext cx="760793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4389755" eaLnBrk="0" hangingPunct="0">
              <a:defRPr sz="2200">
                <a:solidFill>
                  <a:schemeClr val="tx1"/>
                </a:solidFill>
                <a:latin typeface="Arial" panose="020B0604020202020204" pitchFamily="34" charset="0"/>
              </a:defRPr>
            </a:lvl1pPr>
            <a:lvl2pPr marL="742950" indent="-285750" defTabSz="4389755" eaLnBrk="0" hangingPunct="0">
              <a:defRPr sz="2200">
                <a:solidFill>
                  <a:schemeClr val="tx1"/>
                </a:solidFill>
                <a:latin typeface="Arial" panose="020B0604020202020204" pitchFamily="34" charset="0"/>
              </a:defRPr>
            </a:lvl2pPr>
            <a:lvl3pPr marL="1143000" indent="-228600" defTabSz="4389755" eaLnBrk="0" hangingPunct="0">
              <a:defRPr sz="2200">
                <a:solidFill>
                  <a:schemeClr val="tx1"/>
                </a:solidFill>
                <a:latin typeface="Arial" panose="020B0604020202020204" pitchFamily="34" charset="0"/>
              </a:defRPr>
            </a:lvl3pPr>
            <a:lvl4pPr marL="1600200" indent="-228600" defTabSz="4389755" eaLnBrk="0" hangingPunct="0">
              <a:defRPr sz="2200">
                <a:solidFill>
                  <a:schemeClr val="tx1"/>
                </a:solidFill>
                <a:latin typeface="Arial" panose="020B0604020202020204" pitchFamily="34" charset="0"/>
              </a:defRPr>
            </a:lvl4pPr>
            <a:lvl5pPr marL="2057400" indent="-228600" defTabSz="4389755" eaLnBrk="0" hangingPunct="0">
              <a:defRPr sz="2200">
                <a:solidFill>
                  <a:schemeClr val="tx1"/>
                </a:solidFill>
                <a:latin typeface="Arial" panose="020B0604020202020204" pitchFamily="34" charset="0"/>
              </a:defRPr>
            </a:lvl5pPr>
            <a:lvl6pPr marL="2514600" indent="-228600" defTabSz="4389755" eaLnBrk="0" fontAlgn="base" hangingPunct="0">
              <a:spcBef>
                <a:spcPct val="0"/>
              </a:spcBef>
              <a:spcAft>
                <a:spcPct val="0"/>
              </a:spcAft>
              <a:defRPr sz="2200">
                <a:solidFill>
                  <a:schemeClr val="tx1"/>
                </a:solidFill>
                <a:latin typeface="Arial" panose="020B0604020202020204" pitchFamily="34" charset="0"/>
              </a:defRPr>
            </a:lvl6pPr>
            <a:lvl7pPr marL="2971800" indent="-228600" defTabSz="4389755" eaLnBrk="0" fontAlgn="base" hangingPunct="0">
              <a:spcBef>
                <a:spcPct val="0"/>
              </a:spcBef>
              <a:spcAft>
                <a:spcPct val="0"/>
              </a:spcAft>
              <a:defRPr sz="2200">
                <a:solidFill>
                  <a:schemeClr val="tx1"/>
                </a:solidFill>
                <a:latin typeface="Arial" panose="020B0604020202020204" pitchFamily="34" charset="0"/>
              </a:defRPr>
            </a:lvl7pPr>
            <a:lvl8pPr marL="3429000" indent="-228600" defTabSz="4389755" eaLnBrk="0" fontAlgn="base" hangingPunct="0">
              <a:spcBef>
                <a:spcPct val="0"/>
              </a:spcBef>
              <a:spcAft>
                <a:spcPct val="0"/>
              </a:spcAft>
              <a:defRPr sz="2200">
                <a:solidFill>
                  <a:schemeClr val="tx1"/>
                </a:solidFill>
                <a:latin typeface="Arial" panose="020B0604020202020204" pitchFamily="34" charset="0"/>
              </a:defRPr>
            </a:lvl8pPr>
            <a:lvl9pPr marL="3886200" indent="-228600" defTabSz="4389755" eaLnBrk="0" fontAlgn="base" hangingPunct="0">
              <a:spcBef>
                <a:spcPct val="0"/>
              </a:spcBef>
              <a:spcAft>
                <a:spcPct val="0"/>
              </a:spcAft>
              <a:defRPr sz="2200">
                <a:solidFill>
                  <a:schemeClr val="tx1"/>
                </a:solidFill>
                <a:latin typeface="Arial" panose="020B0604020202020204" pitchFamily="34" charset="0"/>
              </a:defRPr>
            </a:lvl9pPr>
          </a:lstStyle>
          <a:p>
            <a:pPr algn="ctr" eaLnBrk="1" hangingPunct="1"/>
            <a:r>
              <a:rPr lang="en-US" sz="2400" b="1" dirty="0">
                <a:latin typeface="Calibri" panose="020F0502020204030204" pitchFamily="34" charset="0"/>
              </a:rPr>
              <a:t>Fig Chart 2.</a:t>
            </a:r>
            <a:r>
              <a:rPr lang="en-US" sz="2400" dirty="0">
                <a:latin typeface="Calibri" panose="020F0502020204030204" pitchFamily="34" charset="0"/>
              </a:rPr>
              <a:t> Comparison of </a:t>
            </a:r>
            <a:r>
              <a:rPr lang="en-IN" altLang="en-US" sz="2400" dirty="0">
                <a:latin typeface="Calibri" panose="020F0502020204030204" pitchFamily="34" charset="0"/>
              </a:rPr>
              <a:t>Training and Validation Accuracy.</a:t>
            </a:r>
            <a:endParaRPr lang="en-IN" altLang="en-US" sz="2400" dirty="0">
              <a:latin typeface="Calibri" panose="020F0502020204030204" pitchFamily="34" charset="0"/>
            </a:endParaRPr>
          </a:p>
        </p:txBody>
      </p:sp>
      <p:pic>
        <p:nvPicPr>
          <p:cNvPr id="16" name="Picture 15"/>
          <p:cNvPicPr>
            <a:picLocks noChangeAspect="1"/>
          </p:cNvPicPr>
          <p:nvPr/>
        </p:nvPicPr>
        <p:blipFill>
          <a:blip r:embed="rId2"/>
          <a:stretch>
            <a:fillRect/>
          </a:stretch>
        </p:blipFill>
        <p:spPr>
          <a:xfrm>
            <a:off x="273131" y="940481"/>
            <a:ext cx="3848476" cy="3402919"/>
          </a:xfrm>
          <a:prstGeom prst="rect">
            <a:avLst/>
          </a:prstGeom>
        </p:spPr>
      </p:pic>
      <p:pic>
        <p:nvPicPr>
          <p:cNvPr id="2" name="Picture 1"/>
          <p:cNvPicPr>
            <a:picLocks noChangeAspect="1"/>
          </p:cNvPicPr>
          <p:nvPr/>
        </p:nvPicPr>
        <p:blipFill>
          <a:blip r:embed="rId3"/>
          <a:srcRect t="8141"/>
          <a:stretch>
            <a:fillRect/>
          </a:stretch>
        </p:blipFill>
        <p:spPr>
          <a:xfrm>
            <a:off x="2667000" y="26144220"/>
            <a:ext cx="11939905" cy="3994150"/>
          </a:xfrm>
          <a:prstGeom prst="rect">
            <a:avLst/>
          </a:prstGeom>
        </p:spPr>
      </p:pic>
      <p:pic>
        <p:nvPicPr>
          <p:cNvPr id="3" name="Picture 2"/>
          <p:cNvPicPr>
            <a:picLocks noChangeAspect="1"/>
          </p:cNvPicPr>
          <p:nvPr/>
        </p:nvPicPr>
        <p:blipFill>
          <a:blip r:embed="rId4"/>
          <a:stretch>
            <a:fillRect/>
          </a:stretch>
        </p:blipFill>
        <p:spPr>
          <a:xfrm>
            <a:off x="17785715" y="13784580"/>
            <a:ext cx="12541250" cy="7916545"/>
          </a:xfrm>
          <a:prstGeom prst="rect">
            <a:avLst/>
          </a:prstGeom>
        </p:spPr>
      </p:pic>
      <p:pic>
        <p:nvPicPr>
          <p:cNvPr id="8" name="Picture 7" descr="gastric"/>
          <p:cNvPicPr>
            <a:picLocks noChangeAspect="1"/>
          </p:cNvPicPr>
          <p:nvPr/>
        </p:nvPicPr>
        <p:blipFill>
          <a:blip r:embed="rId5"/>
          <a:stretch>
            <a:fillRect/>
          </a:stretch>
        </p:blipFill>
        <p:spPr>
          <a:xfrm>
            <a:off x="17284700" y="29183965"/>
            <a:ext cx="4210050" cy="3747135"/>
          </a:xfrm>
          <a:prstGeom prst="rect">
            <a:avLst/>
          </a:prstGeom>
        </p:spPr>
      </p:pic>
      <p:pic>
        <p:nvPicPr>
          <p:cNvPr id="9" name="Image 7"/>
          <p:cNvPicPr/>
          <p:nvPr/>
        </p:nvPicPr>
        <p:blipFill>
          <a:blip r:embed="rId6" cstate="print"/>
          <a:stretch>
            <a:fillRect/>
          </a:stretch>
        </p:blipFill>
        <p:spPr>
          <a:xfrm>
            <a:off x="21778595" y="29213810"/>
            <a:ext cx="9190355" cy="347916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6423</Words>
  <Application>WPS Presentation</Application>
  <PresentationFormat>Custom</PresentationFormat>
  <Paragraphs>71</Paragraphs>
  <Slides>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vt:i4>
      </vt:variant>
    </vt:vector>
  </HeadingPairs>
  <TitlesOfParts>
    <vt:vector size="10" baseType="lpstr">
      <vt:lpstr>Arial</vt:lpstr>
      <vt:lpstr>SimSun</vt:lpstr>
      <vt:lpstr>Wingdings</vt:lpstr>
      <vt:lpstr>Calibri</vt:lpstr>
      <vt:lpstr>Gautami</vt:lpstr>
      <vt:lpstr>Segoe UI Symbol</vt:lpstr>
      <vt:lpstr>Microsoft YaHei</vt:lpstr>
      <vt:lpstr>Arial Unicode MS</vt:lpstr>
      <vt:lpstr>Office Theme</vt:lpstr>
      <vt:lpstr>PowerPoint 演示文稿</vt:lpstr>
    </vt:vector>
  </TitlesOfParts>
  <Company>Genigraphics LLC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Genigraphics Research Poster Template 2 x 3ft</dc:title>
  <dc:creator>B Prabhu Shankar</dc:creator>
  <dc:description>Quality poster printing
www.genigraphics.com
1-800-790-4001</dc:description>
  <cp:lastModifiedBy>Sushanth Reddy</cp:lastModifiedBy>
  <cp:revision>79</cp:revision>
  <cp:lastPrinted>2013-02-12T02:21:00Z</cp:lastPrinted>
  <dcterms:created xsi:type="dcterms:W3CDTF">2013-02-10T21:14:00Z</dcterms:created>
  <dcterms:modified xsi:type="dcterms:W3CDTF">2026-01-23T04:48:25Z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2B71F38F88E5415C8A16348A05A02DCD_13</vt:lpwstr>
  </property>
  <property fmtid="{D5CDD505-2E9C-101B-9397-08002B2CF9AE}" pid="3" name="KSOProductBuildVer">
    <vt:lpwstr>1033-12.2.0.23196</vt:lpwstr>
  </property>
</Properties>
</file>